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1"/>
  </p:sldMasterIdLst>
  <p:notesMasterIdLst>
    <p:notesMasterId r:id="rId19"/>
  </p:notesMasterIdLst>
  <p:sldIdLst>
    <p:sldId id="276" r:id="rId2"/>
    <p:sldId id="277" r:id="rId3"/>
    <p:sldId id="258" r:id="rId4"/>
    <p:sldId id="263" r:id="rId5"/>
    <p:sldId id="261" r:id="rId6"/>
    <p:sldId id="264" r:id="rId7"/>
    <p:sldId id="265" r:id="rId8"/>
    <p:sldId id="266" r:id="rId9"/>
    <p:sldId id="267" r:id="rId10"/>
    <p:sldId id="268" r:id="rId11"/>
    <p:sldId id="269" r:id="rId12"/>
    <p:sldId id="270" r:id="rId13"/>
    <p:sldId id="271" r:id="rId14"/>
    <p:sldId id="272" r:id="rId15"/>
    <p:sldId id="273" r:id="rId16"/>
    <p:sldId id="274" r:id="rId17"/>
    <p:sldId id="2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37"/>
    <p:restoredTop sz="66083"/>
  </p:normalViewPr>
  <p:slideViewPr>
    <p:cSldViewPr snapToGrid="0">
      <p:cViewPr>
        <p:scale>
          <a:sx n="92" d="100"/>
          <a:sy n="92" d="100"/>
        </p:scale>
        <p:origin x="125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230C7A-EF0E-4C50-B962-3C4ECD882A56}"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en-US"/>
        </a:p>
      </dgm:t>
    </dgm:pt>
    <dgm:pt modelId="{9455779B-07D4-4D94-A372-CCD4BF23D6A1}">
      <dgm:prSet/>
      <dgm:spPr/>
      <dgm:t>
        <a:bodyPr/>
        <a:lstStyle/>
        <a:p>
          <a:r>
            <a:rPr lang="en-US" dirty="0"/>
            <a:t>KRAS as a Molecular Switch</a:t>
          </a:r>
        </a:p>
      </dgm:t>
    </dgm:pt>
    <dgm:pt modelId="{90808E28-EDBD-453B-8F54-70029904C21B}" type="parTrans" cxnId="{309FC4E9-9E3B-4521-AD3B-BE8762007E5C}">
      <dgm:prSet/>
      <dgm:spPr/>
      <dgm:t>
        <a:bodyPr/>
        <a:lstStyle/>
        <a:p>
          <a:endParaRPr lang="en-US"/>
        </a:p>
      </dgm:t>
    </dgm:pt>
    <dgm:pt modelId="{22DD392F-5B61-4682-B0C0-20742698841E}" type="sibTrans" cxnId="{309FC4E9-9E3B-4521-AD3B-BE8762007E5C}">
      <dgm:prSet/>
      <dgm:spPr/>
      <dgm:t>
        <a:bodyPr/>
        <a:lstStyle/>
        <a:p>
          <a:endParaRPr lang="en-US"/>
        </a:p>
      </dgm:t>
    </dgm:pt>
    <dgm:pt modelId="{8A77611C-C423-46DE-875E-C374F71A7384}">
      <dgm:prSet/>
      <dgm:spPr/>
      <dgm:t>
        <a:bodyPr/>
        <a:lstStyle/>
        <a:p>
          <a:r>
            <a:rPr lang="en-US" dirty="0"/>
            <a:t>KRAS encodes a membrane-bound GTPase a molecular switch controlling cell growth and survival signaling</a:t>
          </a:r>
        </a:p>
      </dgm:t>
    </dgm:pt>
    <dgm:pt modelId="{60B7C72C-84CD-41D3-ACC8-D9BEB6C59DA1}" type="parTrans" cxnId="{D0AECEB7-8227-4DA9-8D48-B51319FA069E}">
      <dgm:prSet/>
      <dgm:spPr/>
      <dgm:t>
        <a:bodyPr/>
        <a:lstStyle/>
        <a:p>
          <a:endParaRPr lang="en-US"/>
        </a:p>
      </dgm:t>
    </dgm:pt>
    <dgm:pt modelId="{04F9D979-87D9-45B1-A474-AF231B4F5813}" type="sibTrans" cxnId="{D0AECEB7-8227-4DA9-8D48-B51319FA069E}">
      <dgm:prSet/>
      <dgm:spPr/>
      <dgm:t>
        <a:bodyPr/>
        <a:lstStyle/>
        <a:p>
          <a:endParaRPr lang="en-US"/>
        </a:p>
      </dgm:t>
    </dgm:pt>
    <dgm:pt modelId="{257E586A-C6CD-4A76-A951-5A8D5D6CC3B8}">
      <dgm:prSet/>
      <dgm:spPr/>
      <dgm:t>
        <a:bodyPr/>
        <a:lstStyle/>
        <a:p>
          <a:r>
            <a:rPr lang="en-US" dirty="0"/>
            <a:t>Scale &amp; Clinical Burden</a:t>
          </a:r>
        </a:p>
      </dgm:t>
    </dgm:pt>
    <dgm:pt modelId="{B063D9B3-4D1F-4542-AD88-CAA9D8E67DE0}" type="parTrans" cxnId="{B5DD9D58-D5EC-4C4F-9BFF-8BEEC3C441D1}">
      <dgm:prSet/>
      <dgm:spPr/>
      <dgm:t>
        <a:bodyPr/>
        <a:lstStyle/>
        <a:p>
          <a:endParaRPr lang="en-US"/>
        </a:p>
      </dgm:t>
    </dgm:pt>
    <dgm:pt modelId="{AE2A35F2-C684-4E2E-9692-BBE1DDA8629E}" type="sibTrans" cxnId="{B5DD9D58-D5EC-4C4F-9BFF-8BEEC3C441D1}">
      <dgm:prSet/>
      <dgm:spPr/>
      <dgm:t>
        <a:bodyPr/>
        <a:lstStyle/>
        <a:p>
          <a:endParaRPr lang="en-US"/>
        </a:p>
      </dgm:t>
    </dgm:pt>
    <dgm:pt modelId="{0D86DB12-E9CE-4105-A97E-CF073AE1E8DF}">
      <dgm:prSet/>
      <dgm:spPr/>
      <dgm:t>
        <a:bodyPr/>
        <a:lstStyle/>
        <a:p>
          <a:r>
            <a:rPr lang="en-US" dirty="0"/>
            <a:t>KRAS mutations occur in ~23% of all human cancers—175,000 new cases/year in the US alone</a:t>
          </a:r>
        </a:p>
      </dgm:t>
    </dgm:pt>
    <dgm:pt modelId="{03B5181F-FCDB-4C38-9816-E5F5893889EF}" type="parTrans" cxnId="{5EDC2B45-FD2B-49F5-A1E0-1462565C37DA}">
      <dgm:prSet/>
      <dgm:spPr/>
      <dgm:t>
        <a:bodyPr/>
        <a:lstStyle/>
        <a:p>
          <a:endParaRPr lang="en-US"/>
        </a:p>
      </dgm:t>
    </dgm:pt>
    <dgm:pt modelId="{64E005FE-A422-4726-8AC7-B6A86955561D}" type="sibTrans" cxnId="{5EDC2B45-FD2B-49F5-A1E0-1462565C37DA}">
      <dgm:prSet/>
      <dgm:spPr/>
      <dgm:t>
        <a:bodyPr/>
        <a:lstStyle/>
        <a:p>
          <a:endParaRPr lang="en-US"/>
        </a:p>
      </dgm:t>
    </dgm:pt>
    <dgm:pt modelId="{E1657740-F938-4185-968A-30FC81C79F6B}">
      <dgm:prSet/>
      <dgm:spPr/>
      <dgm:t>
        <a:bodyPr/>
        <a:lstStyle/>
        <a:p>
          <a:r>
            <a:rPr lang="en-US" dirty="0"/>
            <a:t>The Paradox: Breakthrough + Failure</a:t>
          </a:r>
        </a:p>
      </dgm:t>
    </dgm:pt>
    <dgm:pt modelId="{F2A85B56-B85B-45CF-9A84-3AB85D6D3C8B}" type="parTrans" cxnId="{644F8DC9-BABA-4C7C-BA30-FF48202A6E9D}">
      <dgm:prSet/>
      <dgm:spPr/>
      <dgm:t>
        <a:bodyPr/>
        <a:lstStyle/>
        <a:p>
          <a:endParaRPr lang="en-US"/>
        </a:p>
      </dgm:t>
    </dgm:pt>
    <dgm:pt modelId="{373E1D08-F26D-494C-A671-F220B84E7417}" type="sibTrans" cxnId="{644F8DC9-BABA-4C7C-BA30-FF48202A6E9D}">
      <dgm:prSet/>
      <dgm:spPr/>
      <dgm:t>
        <a:bodyPr/>
        <a:lstStyle/>
        <a:p>
          <a:endParaRPr lang="en-US"/>
        </a:p>
      </dgm:t>
    </dgm:pt>
    <dgm:pt modelId="{5F6AE66C-8972-44C6-9BD7-281D6E148FC6}">
      <dgm:prSet/>
      <dgm:spPr/>
      <dgm:t>
        <a:bodyPr/>
        <a:lstStyle/>
        <a:p>
          <a:r>
            <a:rPr lang="en-US" dirty="0"/>
            <a:t>Non-G12C mutations (G12D, G12V, G13D) have NO direct inhibitors; these patients are untreated</a:t>
          </a:r>
        </a:p>
      </dgm:t>
    </dgm:pt>
    <dgm:pt modelId="{47163D07-7E4C-42B8-BE2E-B99B8B092C0B}" type="parTrans" cxnId="{49CA7717-74FC-4C0B-BDC3-CA860A1E72A7}">
      <dgm:prSet/>
      <dgm:spPr/>
      <dgm:t>
        <a:bodyPr/>
        <a:lstStyle/>
        <a:p>
          <a:endParaRPr lang="en-US"/>
        </a:p>
      </dgm:t>
    </dgm:pt>
    <dgm:pt modelId="{04F85027-EBA0-4E4E-824D-0B5EC08BC5D1}" type="sibTrans" cxnId="{49CA7717-74FC-4C0B-BDC3-CA860A1E72A7}">
      <dgm:prSet/>
      <dgm:spPr/>
      <dgm:t>
        <a:bodyPr/>
        <a:lstStyle/>
        <a:p>
          <a:endParaRPr lang="en-US"/>
        </a:p>
      </dgm:t>
    </dgm:pt>
    <dgm:pt modelId="{CBF22B67-D91D-9545-88A0-9839389ACEA7}">
      <dgm:prSet/>
      <dgm:spPr/>
      <dgm:t>
        <a:bodyPr/>
        <a:lstStyle/>
        <a:p>
          <a:r>
            <a:rPr lang="en-US" dirty="0"/>
            <a:t>Oncogenic mutations lock KRAS in its ‘on’ state, driving proliferation</a:t>
          </a:r>
        </a:p>
      </dgm:t>
    </dgm:pt>
    <dgm:pt modelId="{4E9C322E-ECE0-904E-9851-98AC14A528D1}" type="parTrans" cxnId="{FE143648-9FB4-D442-9301-9669EF06B2C0}">
      <dgm:prSet/>
      <dgm:spPr/>
      <dgm:t>
        <a:bodyPr/>
        <a:lstStyle/>
        <a:p>
          <a:endParaRPr lang="en-US"/>
        </a:p>
      </dgm:t>
    </dgm:pt>
    <dgm:pt modelId="{8FF83D6F-49C6-D143-A673-23FF2412B7B1}" type="sibTrans" cxnId="{FE143648-9FB4-D442-9301-9669EF06B2C0}">
      <dgm:prSet/>
      <dgm:spPr/>
      <dgm:t>
        <a:bodyPr/>
        <a:lstStyle/>
        <a:p>
          <a:endParaRPr lang="en-US"/>
        </a:p>
      </dgm:t>
    </dgm:pt>
    <dgm:pt modelId="{CD482418-4ADF-A14E-B3F0-321B0229DC3D}">
      <dgm:prSet/>
      <dgm:spPr/>
      <dgm:t>
        <a:bodyPr/>
        <a:lstStyle/>
        <a:p>
          <a:r>
            <a:rPr lang="en-US" dirty="0"/>
            <a:t>Highest prevalence: pancreatic (92%), colorectal (49%), lung (35%)”</a:t>
          </a:r>
        </a:p>
      </dgm:t>
    </dgm:pt>
    <dgm:pt modelId="{ACDA6C04-6C92-B74C-9E16-D844490AD84D}" type="parTrans" cxnId="{EA5C2552-A88F-8344-93BD-77B64FBBEE0B}">
      <dgm:prSet/>
      <dgm:spPr/>
      <dgm:t>
        <a:bodyPr/>
        <a:lstStyle/>
        <a:p>
          <a:endParaRPr lang="en-US"/>
        </a:p>
      </dgm:t>
    </dgm:pt>
    <dgm:pt modelId="{F5DECB7B-ED62-D74E-B896-D22F092493BB}" type="sibTrans" cxnId="{EA5C2552-A88F-8344-93BD-77B64FBBEE0B}">
      <dgm:prSet/>
      <dgm:spPr/>
      <dgm:t>
        <a:bodyPr/>
        <a:lstStyle/>
        <a:p>
          <a:endParaRPr lang="en-US"/>
        </a:p>
      </dgm:t>
    </dgm:pt>
    <dgm:pt modelId="{8CCD345A-6989-F645-AE86-47872779401A}">
      <dgm:prSet/>
      <dgm:spPr/>
      <dgm:t>
        <a:bodyPr/>
        <a:lstStyle/>
        <a:p>
          <a:r>
            <a:rPr lang="en-US" dirty="0"/>
            <a:t>KRAS was considered ‘undruggable’ for 40 years until G12C inhibitors (</a:t>
          </a:r>
          <a:r>
            <a:rPr lang="en-US" dirty="0" err="1"/>
            <a:t>sotorasib</a:t>
          </a:r>
          <a:r>
            <a:rPr lang="en-US" dirty="0"/>
            <a:t>, </a:t>
          </a:r>
          <a:r>
            <a:rPr lang="en-US" dirty="0" err="1"/>
            <a:t>adagrasib</a:t>
          </a:r>
          <a:r>
            <a:rPr lang="en-US" dirty="0"/>
            <a:t>) were approved in 2021-2022”</a:t>
          </a:r>
        </a:p>
      </dgm:t>
    </dgm:pt>
    <dgm:pt modelId="{91CA1A3E-CD0D-F14D-8B85-500AAEA7FF11}" type="parTrans" cxnId="{BF34F298-158E-314A-BF77-C8F52433F15F}">
      <dgm:prSet/>
      <dgm:spPr/>
      <dgm:t>
        <a:bodyPr/>
        <a:lstStyle/>
        <a:p>
          <a:endParaRPr lang="en-US"/>
        </a:p>
      </dgm:t>
    </dgm:pt>
    <dgm:pt modelId="{75ABDAE4-0BB6-5E4B-B011-B43F74222DF7}" type="sibTrans" cxnId="{BF34F298-158E-314A-BF77-C8F52433F15F}">
      <dgm:prSet/>
      <dgm:spPr/>
      <dgm:t>
        <a:bodyPr/>
        <a:lstStyle/>
        <a:p>
          <a:endParaRPr lang="en-US"/>
        </a:p>
      </dgm:t>
    </dgm:pt>
    <dgm:pt modelId="{4164624E-41E9-F245-A7B5-91C23E5F4A30}">
      <dgm:prSet/>
      <dgm:spPr/>
      <dgm:t>
        <a:bodyPr/>
        <a:lstStyle/>
        <a:p>
          <a:r>
            <a:rPr lang="en-US" dirty="0"/>
            <a:t>Yet patients only benefit for 3-6 months before resistance emerges</a:t>
          </a:r>
        </a:p>
      </dgm:t>
    </dgm:pt>
    <dgm:pt modelId="{4CC6A1A3-866C-684A-8139-A5CAD4A405CD}" type="parTrans" cxnId="{95B4482E-1D54-CB4F-AC18-BDFBF641EA0D}">
      <dgm:prSet/>
      <dgm:spPr/>
      <dgm:t>
        <a:bodyPr/>
        <a:lstStyle/>
        <a:p>
          <a:endParaRPr lang="en-US"/>
        </a:p>
      </dgm:t>
    </dgm:pt>
    <dgm:pt modelId="{A6503D6F-B97A-DE41-94F0-988FC296E4FC}" type="sibTrans" cxnId="{95B4482E-1D54-CB4F-AC18-BDFBF641EA0D}">
      <dgm:prSet/>
      <dgm:spPr/>
      <dgm:t>
        <a:bodyPr/>
        <a:lstStyle/>
        <a:p>
          <a:endParaRPr lang="en-US"/>
        </a:p>
      </dgm:t>
    </dgm:pt>
    <dgm:pt modelId="{1ACAE5B8-63A2-814F-8742-B64632E103D3}" type="pres">
      <dgm:prSet presAssocID="{BE230C7A-EF0E-4C50-B962-3C4ECD882A56}" presName="Name0" presStyleCnt="0">
        <dgm:presLayoutVars>
          <dgm:dir/>
          <dgm:animLvl val="lvl"/>
          <dgm:resizeHandles val="exact"/>
        </dgm:presLayoutVars>
      </dgm:prSet>
      <dgm:spPr/>
    </dgm:pt>
    <dgm:pt modelId="{F2C6FC48-4E30-1C4A-BC9B-6B11E921FA8F}" type="pres">
      <dgm:prSet presAssocID="{9455779B-07D4-4D94-A372-CCD4BF23D6A1}" presName="linNode" presStyleCnt="0"/>
      <dgm:spPr/>
    </dgm:pt>
    <dgm:pt modelId="{BDFD8020-6C27-1248-B770-F956D56CDF82}" type="pres">
      <dgm:prSet presAssocID="{9455779B-07D4-4D94-A372-CCD4BF23D6A1}" presName="parentText" presStyleLbl="node1" presStyleIdx="0" presStyleCnt="3">
        <dgm:presLayoutVars>
          <dgm:chMax val="1"/>
          <dgm:bulletEnabled val="1"/>
        </dgm:presLayoutVars>
      </dgm:prSet>
      <dgm:spPr/>
    </dgm:pt>
    <dgm:pt modelId="{7DA0CB94-7E91-294B-ADAC-09738CAA06F5}" type="pres">
      <dgm:prSet presAssocID="{9455779B-07D4-4D94-A372-CCD4BF23D6A1}" presName="descendantText" presStyleLbl="alignAccFollowNode1" presStyleIdx="0" presStyleCnt="3">
        <dgm:presLayoutVars>
          <dgm:bulletEnabled val="1"/>
        </dgm:presLayoutVars>
      </dgm:prSet>
      <dgm:spPr/>
    </dgm:pt>
    <dgm:pt modelId="{B067D87B-C625-724C-AD8D-4EE77F889312}" type="pres">
      <dgm:prSet presAssocID="{22DD392F-5B61-4682-B0C0-20742698841E}" presName="sp" presStyleCnt="0"/>
      <dgm:spPr/>
    </dgm:pt>
    <dgm:pt modelId="{FC731A9D-63C3-FF48-B1F0-4D996B0FCA92}" type="pres">
      <dgm:prSet presAssocID="{257E586A-C6CD-4A76-A951-5A8D5D6CC3B8}" presName="linNode" presStyleCnt="0"/>
      <dgm:spPr/>
    </dgm:pt>
    <dgm:pt modelId="{4EAC2849-1F07-694D-8DBD-648A3D911DAD}" type="pres">
      <dgm:prSet presAssocID="{257E586A-C6CD-4A76-A951-5A8D5D6CC3B8}" presName="parentText" presStyleLbl="node1" presStyleIdx="1" presStyleCnt="3">
        <dgm:presLayoutVars>
          <dgm:chMax val="1"/>
          <dgm:bulletEnabled val="1"/>
        </dgm:presLayoutVars>
      </dgm:prSet>
      <dgm:spPr/>
    </dgm:pt>
    <dgm:pt modelId="{F29F5138-2E73-584C-898E-FD800A46013F}" type="pres">
      <dgm:prSet presAssocID="{257E586A-C6CD-4A76-A951-5A8D5D6CC3B8}" presName="descendantText" presStyleLbl="alignAccFollowNode1" presStyleIdx="1" presStyleCnt="3">
        <dgm:presLayoutVars>
          <dgm:bulletEnabled val="1"/>
        </dgm:presLayoutVars>
      </dgm:prSet>
      <dgm:spPr/>
    </dgm:pt>
    <dgm:pt modelId="{06EA6102-FB23-7044-B9B8-EF5D81A50DF3}" type="pres">
      <dgm:prSet presAssocID="{AE2A35F2-C684-4E2E-9692-BBE1DDA8629E}" presName="sp" presStyleCnt="0"/>
      <dgm:spPr/>
    </dgm:pt>
    <dgm:pt modelId="{120D639D-7616-CC43-B6E2-5A011704D5FD}" type="pres">
      <dgm:prSet presAssocID="{E1657740-F938-4185-968A-30FC81C79F6B}" presName="linNode" presStyleCnt="0"/>
      <dgm:spPr/>
    </dgm:pt>
    <dgm:pt modelId="{E4AF3166-5D4E-7C4B-A94B-717CA44116C6}" type="pres">
      <dgm:prSet presAssocID="{E1657740-F938-4185-968A-30FC81C79F6B}" presName="parentText" presStyleLbl="node1" presStyleIdx="2" presStyleCnt="3">
        <dgm:presLayoutVars>
          <dgm:chMax val="1"/>
          <dgm:bulletEnabled val="1"/>
        </dgm:presLayoutVars>
      </dgm:prSet>
      <dgm:spPr/>
    </dgm:pt>
    <dgm:pt modelId="{F1F74F9D-D052-3E49-AB31-D2393F1A892B}" type="pres">
      <dgm:prSet presAssocID="{E1657740-F938-4185-968A-30FC81C79F6B}" presName="descendantText" presStyleLbl="alignAccFollowNode1" presStyleIdx="2" presStyleCnt="3">
        <dgm:presLayoutVars>
          <dgm:bulletEnabled val="1"/>
        </dgm:presLayoutVars>
      </dgm:prSet>
      <dgm:spPr/>
    </dgm:pt>
  </dgm:ptLst>
  <dgm:cxnLst>
    <dgm:cxn modelId="{08FBCC03-E467-F146-B456-538F879F3E7C}" type="presOf" srcId="{4164624E-41E9-F245-A7B5-91C23E5F4A30}" destId="{F1F74F9D-D052-3E49-AB31-D2393F1A892B}" srcOrd="0" destOrd="1" presId="urn:microsoft.com/office/officeart/2005/8/layout/vList5"/>
    <dgm:cxn modelId="{49CA7717-74FC-4C0B-BDC3-CA860A1E72A7}" srcId="{E1657740-F938-4185-968A-30FC81C79F6B}" destId="{5F6AE66C-8972-44C6-9BD7-281D6E148FC6}" srcOrd="2" destOrd="0" parTransId="{47163D07-7E4C-42B8-BE2E-B99B8B092C0B}" sibTransId="{04F85027-EBA0-4E4E-824D-0B5EC08BC5D1}"/>
    <dgm:cxn modelId="{95B4482E-1D54-CB4F-AC18-BDFBF641EA0D}" srcId="{E1657740-F938-4185-968A-30FC81C79F6B}" destId="{4164624E-41E9-F245-A7B5-91C23E5F4A30}" srcOrd="1" destOrd="0" parTransId="{4CC6A1A3-866C-684A-8139-A5CAD4A405CD}" sibTransId="{A6503D6F-B97A-DE41-94F0-988FC296E4FC}"/>
    <dgm:cxn modelId="{5EDC2B45-FD2B-49F5-A1E0-1462565C37DA}" srcId="{257E586A-C6CD-4A76-A951-5A8D5D6CC3B8}" destId="{0D86DB12-E9CE-4105-A97E-CF073AE1E8DF}" srcOrd="0" destOrd="0" parTransId="{03B5181F-FCDB-4C38-9816-E5F5893889EF}" sibTransId="{64E005FE-A422-4726-8AC7-B6A86955561D}"/>
    <dgm:cxn modelId="{FE143648-9FB4-D442-9301-9669EF06B2C0}" srcId="{9455779B-07D4-4D94-A372-CCD4BF23D6A1}" destId="{CBF22B67-D91D-9545-88A0-9839389ACEA7}" srcOrd="1" destOrd="0" parTransId="{4E9C322E-ECE0-904E-9851-98AC14A528D1}" sibTransId="{8FF83D6F-49C6-D143-A673-23FF2412B7B1}"/>
    <dgm:cxn modelId="{9921E34F-CB54-4740-9981-3E9EFEDA3285}" type="presOf" srcId="{E1657740-F938-4185-968A-30FC81C79F6B}" destId="{E4AF3166-5D4E-7C4B-A94B-717CA44116C6}" srcOrd="0" destOrd="0" presId="urn:microsoft.com/office/officeart/2005/8/layout/vList5"/>
    <dgm:cxn modelId="{EA5C2552-A88F-8344-93BD-77B64FBBEE0B}" srcId="{257E586A-C6CD-4A76-A951-5A8D5D6CC3B8}" destId="{CD482418-4ADF-A14E-B3F0-321B0229DC3D}" srcOrd="1" destOrd="0" parTransId="{ACDA6C04-6C92-B74C-9E16-D844490AD84D}" sibTransId="{F5DECB7B-ED62-D74E-B896-D22F092493BB}"/>
    <dgm:cxn modelId="{9EAD2C52-6115-C342-9362-4916D92669B4}" type="presOf" srcId="{8A77611C-C423-46DE-875E-C374F71A7384}" destId="{7DA0CB94-7E91-294B-ADAC-09738CAA06F5}" srcOrd="0" destOrd="0" presId="urn:microsoft.com/office/officeart/2005/8/layout/vList5"/>
    <dgm:cxn modelId="{B5DD9D58-D5EC-4C4F-9BFF-8BEEC3C441D1}" srcId="{BE230C7A-EF0E-4C50-B962-3C4ECD882A56}" destId="{257E586A-C6CD-4A76-A951-5A8D5D6CC3B8}" srcOrd="1" destOrd="0" parTransId="{B063D9B3-4D1F-4542-AD88-CAA9D8E67DE0}" sibTransId="{AE2A35F2-C684-4E2E-9692-BBE1DDA8629E}"/>
    <dgm:cxn modelId="{3C36BA67-648C-7C44-888B-6BD52B23AB50}" type="presOf" srcId="{BE230C7A-EF0E-4C50-B962-3C4ECD882A56}" destId="{1ACAE5B8-63A2-814F-8742-B64632E103D3}" srcOrd="0" destOrd="0" presId="urn:microsoft.com/office/officeart/2005/8/layout/vList5"/>
    <dgm:cxn modelId="{F67DD46C-7FF4-8343-A736-A33467606A22}" type="presOf" srcId="{0D86DB12-E9CE-4105-A97E-CF073AE1E8DF}" destId="{F29F5138-2E73-584C-898E-FD800A46013F}" srcOrd="0" destOrd="0" presId="urn:microsoft.com/office/officeart/2005/8/layout/vList5"/>
    <dgm:cxn modelId="{F5A7E677-5C12-C846-90EB-C301F0DDA334}" type="presOf" srcId="{CD482418-4ADF-A14E-B3F0-321B0229DC3D}" destId="{F29F5138-2E73-584C-898E-FD800A46013F}" srcOrd="0" destOrd="1" presId="urn:microsoft.com/office/officeart/2005/8/layout/vList5"/>
    <dgm:cxn modelId="{15176684-E105-B749-A9DD-68596E292DB5}" type="presOf" srcId="{5F6AE66C-8972-44C6-9BD7-281D6E148FC6}" destId="{F1F74F9D-D052-3E49-AB31-D2393F1A892B}" srcOrd="0" destOrd="2" presId="urn:microsoft.com/office/officeart/2005/8/layout/vList5"/>
    <dgm:cxn modelId="{EE395C88-1AFD-4B48-A44D-193F526FECB8}" type="presOf" srcId="{8CCD345A-6989-F645-AE86-47872779401A}" destId="{F1F74F9D-D052-3E49-AB31-D2393F1A892B}" srcOrd="0" destOrd="0" presId="urn:microsoft.com/office/officeart/2005/8/layout/vList5"/>
    <dgm:cxn modelId="{2527CC94-AA44-EF42-AE2B-4307C028D393}" type="presOf" srcId="{257E586A-C6CD-4A76-A951-5A8D5D6CC3B8}" destId="{4EAC2849-1F07-694D-8DBD-648A3D911DAD}" srcOrd="0" destOrd="0" presId="urn:microsoft.com/office/officeart/2005/8/layout/vList5"/>
    <dgm:cxn modelId="{BF34F298-158E-314A-BF77-C8F52433F15F}" srcId="{E1657740-F938-4185-968A-30FC81C79F6B}" destId="{8CCD345A-6989-F645-AE86-47872779401A}" srcOrd="0" destOrd="0" parTransId="{91CA1A3E-CD0D-F14D-8B85-500AAEA7FF11}" sibTransId="{75ABDAE4-0BB6-5E4B-B011-B43F74222DF7}"/>
    <dgm:cxn modelId="{8DF472B0-F1EE-1F4D-9D2F-DACF5206E0E5}" type="presOf" srcId="{CBF22B67-D91D-9545-88A0-9839389ACEA7}" destId="{7DA0CB94-7E91-294B-ADAC-09738CAA06F5}" srcOrd="0" destOrd="1" presId="urn:microsoft.com/office/officeart/2005/8/layout/vList5"/>
    <dgm:cxn modelId="{D0AECEB7-8227-4DA9-8D48-B51319FA069E}" srcId="{9455779B-07D4-4D94-A372-CCD4BF23D6A1}" destId="{8A77611C-C423-46DE-875E-C374F71A7384}" srcOrd="0" destOrd="0" parTransId="{60B7C72C-84CD-41D3-ACC8-D9BEB6C59DA1}" sibTransId="{04F9D979-87D9-45B1-A474-AF231B4F5813}"/>
    <dgm:cxn modelId="{644F8DC9-BABA-4C7C-BA30-FF48202A6E9D}" srcId="{BE230C7A-EF0E-4C50-B962-3C4ECD882A56}" destId="{E1657740-F938-4185-968A-30FC81C79F6B}" srcOrd="2" destOrd="0" parTransId="{F2A85B56-B85B-45CF-9A84-3AB85D6D3C8B}" sibTransId="{373E1D08-F26D-494C-A671-F220B84E7417}"/>
    <dgm:cxn modelId="{309FC4E9-9E3B-4521-AD3B-BE8762007E5C}" srcId="{BE230C7A-EF0E-4C50-B962-3C4ECD882A56}" destId="{9455779B-07D4-4D94-A372-CCD4BF23D6A1}" srcOrd="0" destOrd="0" parTransId="{90808E28-EDBD-453B-8F54-70029904C21B}" sibTransId="{22DD392F-5B61-4682-B0C0-20742698841E}"/>
    <dgm:cxn modelId="{43229FEB-D9B0-FE4E-A976-9FFB59D5D383}" type="presOf" srcId="{9455779B-07D4-4D94-A372-CCD4BF23D6A1}" destId="{BDFD8020-6C27-1248-B770-F956D56CDF82}" srcOrd="0" destOrd="0" presId="urn:microsoft.com/office/officeart/2005/8/layout/vList5"/>
    <dgm:cxn modelId="{F048E036-F818-2C4C-8F74-CB5707579A30}" type="presParOf" srcId="{1ACAE5B8-63A2-814F-8742-B64632E103D3}" destId="{F2C6FC48-4E30-1C4A-BC9B-6B11E921FA8F}" srcOrd="0" destOrd="0" presId="urn:microsoft.com/office/officeart/2005/8/layout/vList5"/>
    <dgm:cxn modelId="{A27F3D97-7CB5-1D4E-ABB0-C4EB0A932702}" type="presParOf" srcId="{F2C6FC48-4E30-1C4A-BC9B-6B11E921FA8F}" destId="{BDFD8020-6C27-1248-B770-F956D56CDF82}" srcOrd="0" destOrd="0" presId="urn:microsoft.com/office/officeart/2005/8/layout/vList5"/>
    <dgm:cxn modelId="{469CE444-3491-7B4D-AE7B-CD5210EFBEA6}" type="presParOf" srcId="{F2C6FC48-4E30-1C4A-BC9B-6B11E921FA8F}" destId="{7DA0CB94-7E91-294B-ADAC-09738CAA06F5}" srcOrd="1" destOrd="0" presId="urn:microsoft.com/office/officeart/2005/8/layout/vList5"/>
    <dgm:cxn modelId="{C00F39A8-1BCF-624A-B39A-C67C86F016ED}" type="presParOf" srcId="{1ACAE5B8-63A2-814F-8742-B64632E103D3}" destId="{B067D87B-C625-724C-AD8D-4EE77F889312}" srcOrd="1" destOrd="0" presId="urn:microsoft.com/office/officeart/2005/8/layout/vList5"/>
    <dgm:cxn modelId="{99B5C120-77B6-5B48-BFED-D67B4130BD16}" type="presParOf" srcId="{1ACAE5B8-63A2-814F-8742-B64632E103D3}" destId="{FC731A9D-63C3-FF48-B1F0-4D996B0FCA92}" srcOrd="2" destOrd="0" presId="urn:microsoft.com/office/officeart/2005/8/layout/vList5"/>
    <dgm:cxn modelId="{3D318273-543F-DA49-9B89-65D7D33AE5C3}" type="presParOf" srcId="{FC731A9D-63C3-FF48-B1F0-4D996B0FCA92}" destId="{4EAC2849-1F07-694D-8DBD-648A3D911DAD}" srcOrd="0" destOrd="0" presId="urn:microsoft.com/office/officeart/2005/8/layout/vList5"/>
    <dgm:cxn modelId="{6B530E30-6117-9749-8943-0914B59022C4}" type="presParOf" srcId="{FC731A9D-63C3-FF48-B1F0-4D996B0FCA92}" destId="{F29F5138-2E73-584C-898E-FD800A46013F}" srcOrd="1" destOrd="0" presId="urn:microsoft.com/office/officeart/2005/8/layout/vList5"/>
    <dgm:cxn modelId="{A38125B6-2E1A-F645-B781-832A1FB88765}" type="presParOf" srcId="{1ACAE5B8-63A2-814F-8742-B64632E103D3}" destId="{06EA6102-FB23-7044-B9B8-EF5D81A50DF3}" srcOrd="3" destOrd="0" presId="urn:microsoft.com/office/officeart/2005/8/layout/vList5"/>
    <dgm:cxn modelId="{2917E7BB-B373-4541-AB44-9F6CCFCCFC29}" type="presParOf" srcId="{1ACAE5B8-63A2-814F-8742-B64632E103D3}" destId="{120D639D-7616-CC43-B6E2-5A011704D5FD}" srcOrd="4" destOrd="0" presId="urn:microsoft.com/office/officeart/2005/8/layout/vList5"/>
    <dgm:cxn modelId="{CAEBFA2E-3F8A-7E46-8794-28CE3C675832}" type="presParOf" srcId="{120D639D-7616-CC43-B6E2-5A011704D5FD}" destId="{E4AF3166-5D4E-7C4B-A94B-717CA44116C6}" srcOrd="0" destOrd="0" presId="urn:microsoft.com/office/officeart/2005/8/layout/vList5"/>
    <dgm:cxn modelId="{23C68C86-738A-724C-8DAA-3E3FD5665BAB}" type="presParOf" srcId="{120D639D-7616-CC43-B6E2-5A011704D5FD}" destId="{F1F74F9D-D052-3E49-AB31-D2393F1A892B}"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A545FC-5ED8-415D-AD2A-88ACF876007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6067B036-D165-405E-B4B7-D4B56E8DD8DF}">
      <dgm:prSet/>
      <dgm:spPr/>
      <dgm:t>
        <a:bodyPr/>
        <a:lstStyle/>
        <a:p>
          <a:r>
            <a:rPr lang="en-US" dirty="0"/>
            <a:t>Timeline &amp; Budget</a:t>
          </a:r>
        </a:p>
      </dgm:t>
    </dgm:pt>
    <dgm:pt modelId="{A487C55D-AABD-491B-9B94-C3679D393330}" type="parTrans" cxnId="{D0C3E1DA-D1D7-498E-A891-2E592D6981EA}">
      <dgm:prSet/>
      <dgm:spPr/>
      <dgm:t>
        <a:bodyPr/>
        <a:lstStyle/>
        <a:p>
          <a:endParaRPr lang="en-US"/>
        </a:p>
      </dgm:t>
    </dgm:pt>
    <dgm:pt modelId="{653378E4-4FD9-413D-B8DD-34225175D6EE}" type="sibTrans" cxnId="{D0C3E1DA-D1D7-498E-A891-2E592D6981EA}">
      <dgm:prSet/>
      <dgm:spPr/>
      <dgm:t>
        <a:bodyPr/>
        <a:lstStyle/>
        <a:p>
          <a:endParaRPr lang="en-US"/>
        </a:p>
      </dgm:t>
    </dgm:pt>
    <dgm:pt modelId="{0153F0C3-8F98-4F4B-8721-0733A1942BA7}">
      <dgm:prSet/>
      <dgm:spPr/>
      <dgm:t>
        <a:bodyPr/>
        <a:lstStyle/>
        <a:p>
          <a:r>
            <a:rPr lang="en-US" dirty="0"/>
            <a:t>Duration: 24-30 months in 5 overlapping phases
Total cost: $145K–$210K (sequencing, MS, </a:t>
          </a:r>
          <a:r>
            <a:rPr lang="en-US" dirty="0" err="1"/>
            <a:t>lipidomics</a:t>
          </a:r>
          <a:r>
            <a:rPr lang="en-US" dirty="0"/>
            <a:t>, computation, cell culture)
Open access: GEO, PRIDE, </a:t>
          </a:r>
          <a:r>
            <a:rPr lang="en-US" dirty="0" err="1"/>
            <a:t>MetaboLights</a:t>
          </a:r>
          <a:endParaRPr lang="en-US" dirty="0"/>
        </a:p>
      </dgm:t>
    </dgm:pt>
    <dgm:pt modelId="{3BEF4918-A0FF-412C-9927-666E5D3963BC}" type="parTrans" cxnId="{C1E3B926-BAB7-48BF-8728-FAC411057DA7}">
      <dgm:prSet/>
      <dgm:spPr/>
      <dgm:t>
        <a:bodyPr/>
        <a:lstStyle/>
        <a:p>
          <a:endParaRPr lang="en-US"/>
        </a:p>
      </dgm:t>
    </dgm:pt>
    <dgm:pt modelId="{47D2E720-FB4F-4260-B8BB-B5EB9C019432}" type="sibTrans" cxnId="{C1E3B926-BAB7-48BF-8728-FAC411057DA7}">
      <dgm:prSet/>
      <dgm:spPr/>
      <dgm:t>
        <a:bodyPr/>
        <a:lstStyle/>
        <a:p>
          <a:endParaRPr lang="en-US"/>
        </a:p>
      </dgm:t>
    </dgm:pt>
    <dgm:pt modelId="{77263CB9-3D4B-4434-A153-9F247D0C4DE0}">
      <dgm:prSet/>
      <dgm:spPr/>
      <dgm:t>
        <a:bodyPr/>
        <a:lstStyle/>
        <a:p>
          <a:r>
            <a:rPr lang="en-US" dirty="0"/>
            <a:t>Challenges &amp; Mitigation</a:t>
          </a:r>
        </a:p>
      </dgm:t>
    </dgm:pt>
    <dgm:pt modelId="{201E15F5-124A-4EF6-8964-5FD05DBBC489}" type="parTrans" cxnId="{CB530157-6000-4BF2-9AB0-FD6BAD94DFE7}">
      <dgm:prSet/>
      <dgm:spPr/>
      <dgm:t>
        <a:bodyPr/>
        <a:lstStyle/>
        <a:p>
          <a:endParaRPr lang="en-US"/>
        </a:p>
      </dgm:t>
    </dgm:pt>
    <dgm:pt modelId="{B4F275CD-DC27-4092-8696-A8B89303AAFB}" type="sibTrans" cxnId="{CB530157-6000-4BF2-9AB0-FD6BAD94DFE7}">
      <dgm:prSet/>
      <dgm:spPr/>
      <dgm:t>
        <a:bodyPr/>
        <a:lstStyle/>
        <a:p>
          <a:endParaRPr lang="en-US"/>
        </a:p>
      </dgm:t>
    </dgm:pt>
    <dgm:pt modelId="{A08473B9-F24E-41A7-96F7-088E876423BF}">
      <dgm:prSet/>
      <dgm:spPr/>
      <dgm:t>
        <a:bodyPr/>
        <a:lstStyle/>
        <a:p>
          <a:r>
            <a:rPr lang="en-US" dirty="0"/>
            <a:t>Challenge 1: Resistance model authenticity → Multiple independent clones + patient-derived xenograft validation
Challenge 2: Data integration complexity → Established workflows (DESeq2, </a:t>
          </a:r>
          <a:r>
            <a:rPr lang="en-US" dirty="0" err="1"/>
            <a:t>MaxQuant</a:t>
          </a:r>
          <a:r>
            <a:rPr lang="en-US" dirty="0"/>
            <a:t>, MACS2) + network-based integration
Challenge 3: Multi-layer reproducibility → n≥3 biological replicates + orthogonal validation methods</a:t>
          </a:r>
        </a:p>
      </dgm:t>
    </dgm:pt>
    <dgm:pt modelId="{86263E30-5E06-45BC-B718-77328C94D75C}" type="parTrans" cxnId="{6B0D0DD0-DA15-416C-80E6-C7C8753BDC0F}">
      <dgm:prSet/>
      <dgm:spPr/>
      <dgm:t>
        <a:bodyPr/>
        <a:lstStyle/>
        <a:p>
          <a:endParaRPr lang="en-US"/>
        </a:p>
      </dgm:t>
    </dgm:pt>
    <dgm:pt modelId="{B158B96A-147D-44D0-942D-B620ED3248FF}" type="sibTrans" cxnId="{6B0D0DD0-DA15-416C-80E6-C7C8753BDC0F}">
      <dgm:prSet/>
      <dgm:spPr/>
      <dgm:t>
        <a:bodyPr/>
        <a:lstStyle/>
        <a:p>
          <a:endParaRPr lang="en-US"/>
        </a:p>
      </dgm:t>
    </dgm:pt>
    <dgm:pt modelId="{7AC668B7-CE27-E342-BFB4-AD55B86D35FB}" type="pres">
      <dgm:prSet presAssocID="{5DA545FC-5ED8-415D-AD2A-88ACF8760072}" presName="linear" presStyleCnt="0">
        <dgm:presLayoutVars>
          <dgm:dir/>
          <dgm:animLvl val="lvl"/>
          <dgm:resizeHandles val="exact"/>
        </dgm:presLayoutVars>
      </dgm:prSet>
      <dgm:spPr/>
    </dgm:pt>
    <dgm:pt modelId="{04F463F4-18C4-E647-8656-8C87CF54F7C1}" type="pres">
      <dgm:prSet presAssocID="{6067B036-D165-405E-B4B7-D4B56E8DD8DF}" presName="parentLin" presStyleCnt="0"/>
      <dgm:spPr/>
    </dgm:pt>
    <dgm:pt modelId="{5ACCDC1B-512E-CC44-8AA6-FCC200119011}" type="pres">
      <dgm:prSet presAssocID="{6067B036-D165-405E-B4B7-D4B56E8DD8DF}" presName="parentLeftMargin" presStyleLbl="node1" presStyleIdx="0" presStyleCnt="2"/>
      <dgm:spPr/>
    </dgm:pt>
    <dgm:pt modelId="{A45BEC38-9FD9-4248-A7D5-77EB1B594F15}" type="pres">
      <dgm:prSet presAssocID="{6067B036-D165-405E-B4B7-D4B56E8DD8DF}" presName="parentText" presStyleLbl="node1" presStyleIdx="0" presStyleCnt="2">
        <dgm:presLayoutVars>
          <dgm:chMax val="0"/>
          <dgm:bulletEnabled val="1"/>
        </dgm:presLayoutVars>
      </dgm:prSet>
      <dgm:spPr/>
    </dgm:pt>
    <dgm:pt modelId="{C019985D-5DC9-4B4C-988C-CF5D5F8EA581}" type="pres">
      <dgm:prSet presAssocID="{6067B036-D165-405E-B4B7-D4B56E8DD8DF}" presName="negativeSpace" presStyleCnt="0"/>
      <dgm:spPr/>
    </dgm:pt>
    <dgm:pt modelId="{24066724-1522-0245-A5FD-E3FC2CC19F74}" type="pres">
      <dgm:prSet presAssocID="{6067B036-D165-405E-B4B7-D4B56E8DD8DF}" presName="childText" presStyleLbl="conFgAcc1" presStyleIdx="0" presStyleCnt="2">
        <dgm:presLayoutVars>
          <dgm:bulletEnabled val="1"/>
        </dgm:presLayoutVars>
      </dgm:prSet>
      <dgm:spPr/>
    </dgm:pt>
    <dgm:pt modelId="{876154B1-6BC7-9240-BA7A-C0FC28448EBF}" type="pres">
      <dgm:prSet presAssocID="{653378E4-4FD9-413D-B8DD-34225175D6EE}" presName="spaceBetweenRectangles" presStyleCnt="0"/>
      <dgm:spPr/>
    </dgm:pt>
    <dgm:pt modelId="{3AA6E1FA-7626-0D4C-8FBD-0374179DDF45}" type="pres">
      <dgm:prSet presAssocID="{77263CB9-3D4B-4434-A153-9F247D0C4DE0}" presName="parentLin" presStyleCnt="0"/>
      <dgm:spPr/>
    </dgm:pt>
    <dgm:pt modelId="{05E97CF7-8731-474E-97DE-25D7F29A608B}" type="pres">
      <dgm:prSet presAssocID="{77263CB9-3D4B-4434-A153-9F247D0C4DE0}" presName="parentLeftMargin" presStyleLbl="node1" presStyleIdx="0" presStyleCnt="2"/>
      <dgm:spPr/>
    </dgm:pt>
    <dgm:pt modelId="{B15821BF-1152-CC4D-B732-AAF34E3BBC05}" type="pres">
      <dgm:prSet presAssocID="{77263CB9-3D4B-4434-A153-9F247D0C4DE0}" presName="parentText" presStyleLbl="node1" presStyleIdx="1" presStyleCnt="2">
        <dgm:presLayoutVars>
          <dgm:chMax val="0"/>
          <dgm:bulletEnabled val="1"/>
        </dgm:presLayoutVars>
      </dgm:prSet>
      <dgm:spPr/>
    </dgm:pt>
    <dgm:pt modelId="{EBBD4275-129C-B440-9C80-73AFC2924B34}" type="pres">
      <dgm:prSet presAssocID="{77263CB9-3D4B-4434-A153-9F247D0C4DE0}" presName="negativeSpace" presStyleCnt="0"/>
      <dgm:spPr/>
    </dgm:pt>
    <dgm:pt modelId="{8DFA3438-9AA9-BC4A-B2CE-0A00EDC6382B}" type="pres">
      <dgm:prSet presAssocID="{77263CB9-3D4B-4434-A153-9F247D0C4DE0}" presName="childText" presStyleLbl="conFgAcc1" presStyleIdx="1" presStyleCnt="2">
        <dgm:presLayoutVars>
          <dgm:bulletEnabled val="1"/>
        </dgm:presLayoutVars>
      </dgm:prSet>
      <dgm:spPr/>
    </dgm:pt>
  </dgm:ptLst>
  <dgm:cxnLst>
    <dgm:cxn modelId="{C1E3B926-BAB7-48BF-8728-FAC411057DA7}" srcId="{6067B036-D165-405E-B4B7-D4B56E8DD8DF}" destId="{0153F0C3-8F98-4F4B-8721-0733A1942BA7}" srcOrd="0" destOrd="0" parTransId="{3BEF4918-A0FF-412C-9927-666E5D3963BC}" sibTransId="{47D2E720-FB4F-4260-B8BB-B5EB9C019432}"/>
    <dgm:cxn modelId="{CB530157-6000-4BF2-9AB0-FD6BAD94DFE7}" srcId="{5DA545FC-5ED8-415D-AD2A-88ACF8760072}" destId="{77263CB9-3D4B-4434-A153-9F247D0C4DE0}" srcOrd="1" destOrd="0" parTransId="{201E15F5-124A-4EF6-8964-5FD05DBBC489}" sibTransId="{B4F275CD-DC27-4092-8696-A8B89303AAFB}"/>
    <dgm:cxn modelId="{CDCA0D80-CE3D-9147-A7FD-26B18D1982D0}" type="presOf" srcId="{6067B036-D165-405E-B4B7-D4B56E8DD8DF}" destId="{A45BEC38-9FD9-4248-A7D5-77EB1B594F15}" srcOrd="1" destOrd="0" presId="urn:microsoft.com/office/officeart/2005/8/layout/list1"/>
    <dgm:cxn modelId="{14E00C8F-8E18-7546-973B-64F68C36385E}" type="presOf" srcId="{77263CB9-3D4B-4434-A153-9F247D0C4DE0}" destId="{05E97CF7-8731-474E-97DE-25D7F29A608B}" srcOrd="0" destOrd="0" presId="urn:microsoft.com/office/officeart/2005/8/layout/list1"/>
    <dgm:cxn modelId="{161ABA90-E3B3-C349-8D75-C3DD8C081AE2}" type="presOf" srcId="{A08473B9-F24E-41A7-96F7-088E876423BF}" destId="{8DFA3438-9AA9-BC4A-B2CE-0A00EDC6382B}" srcOrd="0" destOrd="0" presId="urn:microsoft.com/office/officeart/2005/8/layout/list1"/>
    <dgm:cxn modelId="{64006598-477B-3F46-A6E0-02F55661B7D9}" type="presOf" srcId="{5DA545FC-5ED8-415D-AD2A-88ACF8760072}" destId="{7AC668B7-CE27-E342-BFB4-AD55B86D35FB}" srcOrd="0" destOrd="0" presId="urn:microsoft.com/office/officeart/2005/8/layout/list1"/>
    <dgm:cxn modelId="{A4D031A1-9DE7-3240-B4AD-87685AD4E3C5}" type="presOf" srcId="{77263CB9-3D4B-4434-A153-9F247D0C4DE0}" destId="{B15821BF-1152-CC4D-B732-AAF34E3BBC05}" srcOrd="1" destOrd="0" presId="urn:microsoft.com/office/officeart/2005/8/layout/list1"/>
    <dgm:cxn modelId="{6B0D0DD0-DA15-416C-80E6-C7C8753BDC0F}" srcId="{77263CB9-3D4B-4434-A153-9F247D0C4DE0}" destId="{A08473B9-F24E-41A7-96F7-088E876423BF}" srcOrd="0" destOrd="0" parTransId="{86263E30-5E06-45BC-B718-77328C94D75C}" sibTransId="{B158B96A-147D-44D0-942D-B620ED3248FF}"/>
    <dgm:cxn modelId="{D0C3E1DA-D1D7-498E-A891-2E592D6981EA}" srcId="{5DA545FC-5ED8-415D-AD2A-88ACF8760072}" destId="{6067B036-D165-405E-B4B7-D4B56E8DD8DF}" srcOrd="0" destOrd="0" parTransId="{A487C55D-AABD-491B-9B94-C3679D393330}" sibTransId="{653378E4-4FD9-413D-B8DD-34225175D6EE}"/>
    <dgm:cxn modelId="{08FFC0E1-F8A0-9F44-8F59-D5C989514E49}" type="presOf" srcId="{6067B036-D165-405E-B4B7-D4B56E8DD8DF}" destId="{5ACCDC1B-512E-CC44-8AA6-FCC200119011}" srcOrd="0" destOrd="0" presId="urn:microsoft.com/office/officeart/2005/8/layout/list1"/>
    <dgm:cxn modelId="{F55F35FF-B0CF-8042-ACBD-9AA9BCF88C0D}" type="presOf" srcId="{0153F0C3-8F98-4F4B-8721-0733A1942BA7}" destId="{24066724-1522-0245-A5FD-E3FC2CC19F74}" srcOrd="0" destOrd="0" presId="urn:microsoft.com/office/officeart/2005/8/layout/list1"/>
    <dgm:cxn modelId="{D5F4921C-0705-1647-8465-11BE6D80D8E5}" type="presParOf" srcId="{7AC668B7-CE27-E342-BFB4-AD55B86D35FB}" destId="{04F463F4-18C4-E647-8656-8C87CF54F7C1}" srcOrd="0" destOrd="0" presId="urn:microsoft.com/office/officeart/2005/8/layout/list1"/>
    <dgm:cxn modelId="{FFFDDC5B-4C3B-0F4C-ACDB-F4B072F26376}" type="presParOf" srcId="{04F463F4-18C4-E647-8656-8C87CF54F7C1}" destId="{5ACCDC1B-512E-CC44-8AA6-FCC200119011}" srcOrd="0" destOrd="0" presId="urn:microsoft.com/office/officeart/2005/8/layout/list1"/>
    <dgm:cxn modelId="{AA0FABF4-2604-6E4F-BD36-F00E02476A75}" type="presParOf" srcId="{04F463F4-18C4-E647-8656-8C87CF54F7C1}" destId="{A45BEC38-9FD9-4248-A7D5-77EB1B594F15}" srcOrd="1" destOrd="0" presId="urn:microsoft.com/office/officeart/2005/8/layout/list1"/>
    <dgm:cxn modelId="{540AA4C7-8842-294F-A609-5161108033F2}" type="presParOf" srcId="{7AC668B7-CE27-E342-BFB4-AD55B86D35FB}" destId="{C019985D-5DC9-4B4C-988C-CF5D5F8EA581}" srcOrd="1" destOrd="0" presId="urn:microsoft.com/office/officeart/2005/8/layout/list1"/>
    <dgm:cxn modelId="{D56FEC21-F48F-AB43-A996-0FBA9A389F7D}" type="presParOf" srcId="{7AC668B7-CE27-E342-BFB4-AD55B86D35FB}" destId="{24066724-1522-0245-A5FD-E3FC2CC19F74}" srcOrd="2" destOrd="0" presId="urn:microsoft.com/office/officeart/2005/8/layout/list1"/>
    <dgm:cxn modelId="{F7BE68F1-3F91-AC46-833A-23B952DDAEB9}" type="presParOf" srcId="{7AC668B7-CE27-E342-BFB4-AD55B86D35FB}" destId="{876154B1-6BC7-9240-BA7A-C0FC28448EBF}" srcOrd="3" destOrd="0" presId="urn:microsoft.com/office/officeart/2005/8/layout/list1"/>
    <dgm:cxn modelId="{740BA295-525E-CF42-BB50-59F17FA894EA}" type="presParOf" srcId="{7AC668B7-CE27-E342-BFB4-AD55B86D35FB}" destId="{3AA6E1FA-7626-0D4C-8FBD-0374179DDF45}" srcOrd="4" destOrd="0" presId="urn:microsoft.com/office/officeart/2005/8/layout/list1"/>
    <dgm:cxn modelId="{EE5A0CB4-A0B1-B441-ADBE-78F86921E922}" type="presParOf" srcId="{3AA6E1FA-7626-0D4C-8FBD-0374179DDF45}" destId="{05E97CF7-8731-474E-97DE-25D7F29A608B}" srcOrd="0" destOrd="0" presId="urn:microsoft.com/office/officeart/2005/8/layout/list1"/>
    <dgm:cxn modelId="{5F5A6227-F552-494B-85BC-A317696360AE}" type="presParOf" srcId="{3AA6E1FA-7626-0D4C-8FBD-0374179DDF45}" destId="{B15821BF-1152-CC4D-B732-AAF34E3BBC05}" srcOrd="1" destOrd="0" presId="urn:microsoft.com/office/officeart/2005/8/layout/list1"/>
    <dgm:cxn modelId="{44693EEA-2E34-D74B-BABC-48160C528D2F}" type="presParOf" srcId="{7AC668B7-CE27-E342-BFB4-AD55B86D35FB}" destId="{EBBD4275-129C-B440-9C80-73AFC2924B34}" srcOrd="5" destOrd="0" presId="urn:microsoft.com/office/officeart/2005/8/layout/list1"/>
    <dgm:cxn modelId="{1A4194D2-FBD0-AC4C-A132-3D47A18C8688}" type="presParOf" srcId="{7AC668B7-CE27-E342-BFB4-AD55B86D35FB}" destId="{8DFA3438-9AA9-BC4A-B2CE-0A00EDC6382B}" srcOrd="6"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A0CB94-7E91-294B-ADAC-09738CAA06F5}">
      <dsp:nvSpPr>
        <dsp:cNvPr id="0" name=""/>
        <dsp:cNvSpPr/>
      </dsp:nvSpPr>
      <dsp:spPr>
        <a:xfrm rot="5400000">
          <a:off x="3392435" y="-1128560"/>
          <a:ext cx="1194792" cy="3755136"/>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en-US" sz="1000" kern="1200" dirty="0"/>
            <a:t>KRAS encodes a membrane-bound GTPase a molecular switch controlling cell growth and survival signaling</a:t>
          </a:r>
        </a:p>
        <a:p>
          <a:pPr marL="57150" lvl="1" indent="-57150" algn="l" defTabSz="444500">
            <a:lnSpc>
              <a:spcPct val="90000"/>
            </a:lnSpc>
            <a:spcBef>
              <a:spcPct val="0"/>
            </a:spcBef>
            <a:spcAft>
              <a:spcPct val="15000"/>
            </a:spcAft>
            <a:buChar char="•"/>
          </a:pPr>
          <a:r>
            <a:rPr lang="en-US" sz="1000" kern="1200" dirty="0"/>
            <a:t>Oncogenic mutations lock KRAS in its ‘on’ state, driving proliferation</a:t>
          </a:r>
        </a:p>
      </dsp:txBody>
      <dsp:txXfrm rot="-5400000">
        <a:off x="2112264" y="209936"/>
        <a:ext cx="3696811" cy="1078142"/>
      </dsp:txXfrm>
    </dsp:sp>
    <dsp:sp modelId="{BDFD8020-6C27-1248-B770-F956D56CDF82}">
      <dsp:nvSpPr>
        <dsp:cNvPr id="0" name=""/>
        <dsp:cNvSpPr/>
      </dsp:nvSpPr>
      <dsp:spPr>
        <a:xfrm>
          <a:off x="0" y="2262"/>
          <a:ext cx="2112263" cy="149349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kern="1200" dirty="0"/>
            <a:t>KRAS as a Molecular Switch</a:t>
          </a:r>
        </a:p>
      </dsp:txBody>
      <dsp:txXfrm>
        <a:off x="72906" y="75168"/>
        <a:ext cx="1966451" cy="1347678"/>
      </dsp:txXfrm>
    </dsp:sp>
    <dsp:sp modelId="{F29F5138-2E73-584C-898E-FD800A46013F}">
      <dsp:nvSpPr>
        <dsp:cNvPr id="0" name=""/>
        <dsp:cNvSpPr/>
      </dsp:nvSpPr>
      <dsp:spPr>
        <a:xfrm rot="5400000">
          <a:off x="3392435" y="439604"/>
          <a:ext cx="1194792" cy="3755136"/>
        </a:xfrm>
        <a:prstGeom prst="round2Same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en-US" sz="1000" kern="1200" dirty="0"/>
            <a:t>KRAS mutations occur in ~23% of all human cancers—175,000 new cases/year in the US alone</a:t>
          </a:r>
        </a:p>
        <a:p>
          <a:pPr marL="57150" lvl="1" indent="-57150" algn="l" defTabSz="444500">
            <a:lnSpc>
              <a:spcPct val="90000"/>
            </a:lnSpc>
            <a:spcBef>
              <a:spcPct val="0"/>
            </a:spcBef>
            <a:spcAft>
              <a:spcPct val="15000"/>
            </a:spcAft>
            <a:buChar char="•"/>
          </a:pPr>
          <a:r>
            <a:rPr lang="en-US" sz="1000" kern="1200" dirty="0"/>
            <a:t>Highest prevalence: pancreatic (92%), colorectal (49%), lung (35%)”</a:t>
          </a:r>
        </a:p>
      </dsp:txBody>
      <dsp:txXfrm rot="-5400000">
        <a:off x="2112264" y="1778101"/>
        <a:ext cx="3696811" cy="1078142"/>
      </dsp:txXfrm>
    </dsp:sp>
    <dsp:sp modelId="{4EAC2849-1F07-694D-8DBD-648A3D911DAD}">
      <dsp:nvSpPr>
        <dsp:cNvPr id="0" name=""/>
        <dsp:cNvSpPr/>
      </dsp:nvSpPr>
      <dsp:spPr>
        <a:xfrm>
          <a:off x="0" y="1570427"/>
          <a:ext cx="2112263" cy="149349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kern="1200" dirty="0"/>
            <a:t>Scale &amp; Clinical Burden</a:t>
          </a:r>
        </a:p>
      </dsp:txBody>
      <dsp:txXfrm>
        <a:off x="72906" y="1643333"/>
        <a:ext cx="1966451" cy="1347678"/>
      </dsp:txXfrm>
    </dsp:sp>
    <dsp:sp modelId="{F1F74F9D-D052-3E49-AB31-D2393F1A892B}">
      <dsp:nvSpPr>
        <dsp:cNvPr id="0" name=""/>
        <dsp:cNvSpPr/>
      </dsp:nvSpPr>
      <dsp:spPr>
        <a:xfrm rot="5400000">
          <a:off x="3392435" y="2007769"/>
          <a:ext cx="1194792" cy="3755136"/>
        </a:xfrm>
        <a:prstGeom prst="round2Same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en-US" sz="1000" kern="1200" dirty="0"/>
            <a:t>KRAS was considered ‘undruggable’ for 40 years until G12C inhibitors (</a:t>
          </a:r>
          <a:r>
            <a:rPr lang="en-US" sz="1000" kern="1200" dirty="0" err="1"/>
            <a:t>sotorasib</a:t>
          </a:r>
          <a:r>
            <a:rPr lang="en-US" sz="1000" kern="1200" dirty="0"/>
            <a:t>, </a:t>
          </a:r>
          <a:r>
            <a:rPr lang="en-US" sz="1000" kern="1200" dirty="0" err="1"/>
            <a:t>adagrasib</a:t>
          </a:r>
          <a:r>
            <a:rPr lang="en-US" sz="1000" kern="1200" dirty="0"/>
            <a:t>) were approved in 2021-2022”</a:t>
          </a:r>
        </a:p>
        <a:p>
          <a:pPr marL="57150" lvl="1" indent="-57150" algn="l" defTabSz="444500">
            <a:lnSpc>
              <a:spcPct val="90000"/>
            </a:lnSpc>
            <a:spcBef>
              <a:spcPct val="0"/>
            </a:spcBef>
            <a:spcAft>
              <a:spcPct val="15000"/>
            </a:spcAft>
            <a:buChar char="•"/>
          </a:pPr>
          <a:r>
            <a:rPr lang="en-US" sz="1000" kern="1200" dirty="0"/>
            <a:t>Yet patients only benefit for 3-6 months before resistance emerges</a:t>
          </a:r>
        </a:p>
        <a:p>
          <a:pPr marL="57150" lvl="1" indent="-57150" algn="l" defTabSz="444500">
            <a:lnSpc>
              <a:spcPct val="90000"/>
            </a:lnSpc>
            <a:spcBef>
              <a:spcPct val="0"/>
            </a:spcBef>
            <a:spcAft>
              <a:spcPct val="15000"/>
            </a:spcAft>
            <a:buChar char="•"/>
          </a:pPr>
          <a:r>
            <a:rPr lang="en-US" sz="1000" kern="1200" dirty="0"/>
            <a:t>Non-G12C mutations (G12D, G12V, G13D) have NO direct inhibitors; these patients are untreated</a:t>
          </a:r>
        </a:p>
      </dsp:txBody>
      <dsp:txXfrm rot="-5400000">
        <a:off x="2112264" y="3346266"/>
        <a:ext cx="3696811" cy="1078142"/>
      </dsp:txXfrm>
    </dsp:sp>
    <dsp:sp modelId="{E4AF3166-5D4E-7C4B-A94B-717CA44116C6}">
      <dsp:nvSpPr>
        <dsp:cNvPr id="0" name=""/>
        <dsp:cNvSpPr/>
      </dsp:nvSpPr>
      <dsp:spPr>
        <a:xfrm>
          <a:off x="0" y="3138592"/>
          <a:ext cx="2112263" cy="149349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kern="1200" dirty="0"/>
            <a:t>The Paradox: Breakthrough + Failure</a:t>
          </a:r>
        </a:p>
      </dsp:txBody>
      <dsp:txXfrm>
        <a:off x="72906" y="3211498"/>
        <a:ext cx="1966451" cy="13476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066724-1522-0245-A5FD-E3FC2CC19F74}">
      <dsp:nvSpPr>
        <dsp:cNvPr id="0" name=""/>
        <dsp:cNvSpPr/>
      </dsp:nvSpPr>
      <dsp:spPr>
        <a:xfrm>
          <a:off x="0" y="410802"/>
          <a:ext cx="7003777" cy="1764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43571" tIns="416560" rIns="543571"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Duration: 24-30 months in 5 overlapping phases
Total cost: $145K–$210K (sequencing, MS, </a:t>
          </a:r>
          <a:r>
            <a:rPr lang="en-US" sz="2000" kern="1200" dirty="0" err="1"/>
            <a:t>lipidomics</a:t>
          </a:r>
          <a:r>
            <a:rPr lang="en-US" sz="2000" kern="1200" dirty="0"/>
            <a:t>, computation, cell culture)
Open access: GEO, PRIDE, </a:t>
          </a:r>
          <a:r>
            <a:rPr lang="en-US" sz="2000" kern="1200" dirty="0" err="1"/>
            <a:t>MetaboLights</a:t>
          </a:r>
          <a:endParaRPr lang="en-US" sz="2000" kern="1200" dirty="0"/>
        </a:p>
      </dsp:txBody>
      <dsp:txXfrm>
        <a:off x="0" y="410802"/>
        <a:ext cx="7003777" cy="1764000"/>
      </dsp:txXfrm>
    </dsp:sp>
    <dsp:sp modelId="{A45BEC38-9FD9-4248-A7D5-77EB1B594F15}">
      <dsp:nvSpPr>
        <dsp:cNvPr id="0" name=""/>
        <dsp:cNvSpPr/>
      </dsp:nvSpPr>
      <dsp:spPr>
        <a:xfrm>
          <a:off x="350188" y="115602"/>
          <a:ext cx="4902643" cy="5903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5308" tIns="0" rIns="185308" bIns="0" numCol="1" spcCol="1270" anchor="ctr" anchorCtr="0">
          <a:noAutofit/>
        </a:bodyPr>
        <a:lstStyle/>
        <a:p>
          <a:pPr marL="0" lvl="0" indent="0" algn="l" defTabSz="889000">
            <a:lnSpc>
              <a:spcPct val="90000"/>
            </a:lnSpc>
            <a:spcBef>
              <a:spcPct val="0"/>
            </a:spcBef>
            <a:spcAft>
              <a:spcPct val="35000"/>
            </a:spcAft>
            <a:buNone/>
          </a:pPr>
          <a:r>
            <a:rPr lang="en-US" sz="2000" kern="1200" dirty="0"/>
            <a:t>Timeline &amp; Budget</a:t>
          </a:r>
        </a:p>
      </dsp:txBody>
      <dsp:txXfrm>
        <a:off x="379009" y="144423"/>
        <a:ext cx="4845001" cy="532757"/>
      </dsp:txXfrm>
    </dsp:sp>
    <dsp:sp modelId="{8DFA3438-9AA9-BC4A-B2CE-0A00EDC6382B}">
      <dsp:nvSpPr>
        <dsp:cNvPr id="0" name=""/>
        <dsp:cNvSpPr/>
      </dsp:nvSpPr>
      <dsp:spPr>
        <a:xfrm>
          <a:off x="0" y="2578002"/>
          <a:ext cx="7003777" cy="3150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43571" tIns="416560" rIns="543571"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Challenge 1: Resistance model authenticity → Multiple independent clones + patient-derived xenograft validation
Challenge 2: Data integration complexity → Established workflows (DESeq2, </a:t>
          </a:r>
          <a:r>
            <a:rPr lang="en-US" sz="2000" kern="1200" dirty="0" err="1"/>
            <a:t>MaxQuant</a:t>
          </a:r>
          <a:r>
            <a:rPr lang="en-US" sz="2000" kern="1200" dirty="0"/>
            <a:t>, MACS2) + network-based integration
Challenge 3: Multi-layer reproducibility → n≥3 biological replicates + orthogonal validation methods</a:t>
          </a:r>
        </a:p>
      </dsp:txBody>
      <dsp:txXfrm>
        <a:off x="0" y="2578002"/>
        <a:ext cx="7003777" cy="3150000"/>
      </dsp:txXfrm>
    </dsp:sp>
    <dsp:sp modelId="{B15821BF-1152-CC4D-B732-AAF34E3BBC05}">
      <dsp:nvSpPr>
        <dsp:cNvPr id="0" name=""/>
        <dsp:cNvSpPr/>
      </dsp:nvSpPr>
      <dsp:spPr>
        <a:xfrm>
          <a:off x="350188" y="2282802"/>
          <a:ext cx="4902643" cy="5903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5308" tIns="0" rIns="185308" bIns="0" numCol="1" spcCol="1270" anchor="ctr" anchorCtr="0">
          <a:noAutofit/>
        </a:bodyPr>
        <a:lstStyle/>
        <a:p>
          <a:pPr marL="0" lvl="0" indent="0" algn="l" defTabSz="889000">
            <a:lnSpc>
              <a:spcPct val="90000"/>
            </a:lnSpc>
            <a:spcBef>
              <a:spcPct val="0"/>
            </a:spcBef>
            <a:spcAft>
              <a:spcPct val="35000"/>
            </a:spcAft>
            <a:buNone/>
          </a:pPr>
          <a:r>
            <a:rPr lang="en-US" sz="2000" kern="1200" dirty="0"/>
            <a:t>Challenges &amp; Mitigation</a:t>
          </a:r>
        </a:p>
      </dsp:txBody>
      <dsp:txXfrm>
        <a:off x="379009" y="2311623"/>
        <a:ext cx="4845001" cy="532757"/>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8434B8-930D-8A4E-9AE1-5451BFEE4511}" type="datetimeFigureOut">
              <a:rPr lang="en-US" smtClean="0"/>
              <a:t>12/2/25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167BDB-5A42-D543-B590-B17E700719CA}" type="slidenum">
              <a:rPr lang="en-US" smtClean="0"/>
              <a:t>‹#›</a:t>
            </a:fld>
            <a:endParaRPr lang="en-US"/>
          </a:p>
        </p:txBody>
      </p:sp>
    </p:spTree>
    <p:extLst>
      <p:ext uri="{BB962C8B-B14F-4D97-AF65-F5344CB8AC3E}">
        <p14:creationId xmlns:p14="http://schemas.microsoft.com/office/powerpoint/2010/main" val="969576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Good [morning/afternoon]. I’m Sarvesh , and we're presenting work on **Multi-Omics Dissection of Therapeutic Resistance Mechanisms in KRAS-Mutant Cancers**. This research explores why patients rapidly develop resistance to KRAS therapies and how multi-layered omics can identify rational combination strategies to prevent it.</a:t>
            </a:r>
          </a:p>
        </p:txBody>
      </p:sp>
      <p:sp>
        <p:nvSpPr>
          <p:cNvPr id="4" name="Slide Number Placeholder 3"/>
          <p:cNvSpPr>
            <a:spLocks noGrp="1"/>
          </p:cNvSpPr>
          <p:nvPr>
            <p:ph type="sldNum" sz="quarter" idx="5"/>
          </p:nvPr>
        </p:nvSpPr>
        <p:spPr/>
        <p:txBody>
          <a:bodyPr/>
          <a:lstStyle/>
          <a:p>
            <a:fld id="{67167BDB-5A42-D543-B590-B17E700719CA}" type="slidenum">
              <a:rPr lang="en-US" smtClean="0"/>
              <a:t>1</a:t>
            </a:fld>
            <a:endParaRPr lang="en-US"/>
          </a:p>
        </p:txBody>
      </p:sp>
    </p:spTree>
    <p:extLst>
      <p:ext uri="{BB962C8B-B14F-4D97-AF65-F5344CB8AC3E}">
        <p14:creationId xmlns:p14="http://schemas.microsoft.com/office/powerpoint/2010/main" val="7498404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set the stage with why KRAS is so important. KRAS is mutated in approximately **23% of all cancers**that's roughly **175,000 new cases every year in the United States alone**.</a:t>
            </a:r>
          </a:p>
          <a:p>
            <a:endParaRPr lang="en-US" dirty="0"/>
          </a:p>
          <a:p>
            <a:r>
              <a:rPr lang="en-US" dirty="0"/>
              <a:t>&gt; The mutations we care about most are concentrated in three cancer types: **92% of pancreatic cancers**, **49% of colorectal cancers**, and **35% of lung cancers**. These are some of the most deadly cancer types we have.</a:t>
            </a:r>
          </a:p>
          <a:p>
            <a:r>
              <a:rPr lang="en-US" dirty="0"/>
              <a:t>&gt;</a:t>
            </a:r>
          </a:p>
          <a:p>
            <a:r>
              <a:rPr lang="en-US" dirty="0"/>
              <a:t>&gt; Now, what does KRAS actually do? It's a membrane-bound protein that acts like a molecular switch normally it alternates between an inactive GDP state and an active GTP state. But when KRAS is mutated, this switch gets *stuck in the on position*, causing constant signaling through the MAPK and PI3K/AKT pathways. That constitutive activation drives uncontrolled cell proliferation.</a:t>
            </a:r>
          </a:p>
          <a:p>
            <a:r>
              <a:rPr lang="en-US" dirty="0"/>
              <a:t>&gt; For decades, KRAS was considered "undruggable we couldn't target it directly. But that changed in 2021-2022 when </a:t>
            </a:r>
            <a:r>
              <a:rPr lang="en-US" dirty="0" err="1"/>
              <a:t>sotorasib</a:t>
            </a:r>
            <a:r>
              <a:rPr lang="en-US" dirty="0"/>
              <a:t> and </a:t>
            </a:r>
            <a:r>
              <a:rPr lang="en-US" dirty="0" err="1"/>
              <a:t>adagrasib</a:t>
            </a:r>
            <a:r>
              <a:rPr lang="en-US" dirty="0"/>
              <a:t> KRAS G12C inhibitors were approved by the FDA. This was a huge breakthrough.</a:t>
            </a:r>
          </a:p>
          <a:p>
            <a:r>
              <a:rPr lang="en-US" dirty="0"/>
              <a:t>&gt; But here's the problem: while these drugs work initially, patients develop resistance incredibly quickly. We're talking median progression-free survival of **6 months for lung cancer and only 3 months for colorectal cancer**. And worse 85% of KRAS-mutant patients *don't even have G12C mutations*. They have G12D, G12V, or G13D mutations for which no direct inhibitors exist. These patients have essentially no good options.</a:t>
            </a:r>
          </a:p>
        </p:txBody>
      </p:sp>
      <p:sp>
        <p:nvSpPr>
          <p:cNvPr id="4" name="Slide Number Placeholder 3"/>
          <p:cNvSpPr>
            <a:spLocks noGrp="1"/>
          </p:cNvSpPr>
          <p:nvPr>
            <p:ph type="sldNum" sz="quarter" idx="5"/>
          </p:nvPr>
        </p:nvSpPr>
        <p:spPr/>
        <p:txBody>
          <a:bodyPr/>
          <a:lstStyle/>
          <a:p>
            <a:fld id="{67167BDB-5A42-D543-B590-B17E700719CA}" type="slidenum">
              <a:rPr lang="en-US" smtClean="0"/>
              <a:t>2</a:t>
            </a:fld>
            <a:endParaRPr lang="en-US"/>
          </a:p>
        </p:txBody>
      </p:sp>
    </p:spTree>
    <p:extLst>
      <p:ext uri="{BB962C8B-B14F-4D97-AF65-F5344CB8AC3E}">
        <p14:creationId xmlns:p14="http://schemas.microsoft.com/office/powerpoint/2010/main" val="3722907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happens when tumors become resistant?</a:t>
            </a:r>
          </a:p>
          <a:p>
            <a:r>
              <a:rPr lang="en-US" dirty="0"/>
              <a:t>First, EGFR-mediated MAPK reactivation. When you block KRAS, cells find alternative routes—receptor tyrosine kinases like EGFR and MET bypass KRAS entirely and reactivate the same downstream signaling within weeks.</a:t>
            </a:r>
          </a:p>
          <a:p>
            <a:r>
              <a:rPr lang="en-US" dirty="0"/>
              <a:t>Second, PI3K/AKT hyperactivation. This independent survival pathway enables proliferation even when KRAS is blocked. Different mutations show different dependencies here—G12D tends toward stronger PI3K activation.</a:t>
            </a:r>
          </a:p>
          <a:p>
            <a:r>
              <a:rPr lang="en-US" dirty="0"/>
              <a:t>Third—and this is what makes our proposal unique—lipid remodeling and epigenetic plasticity. KRAS must anchor to the membrane to signal. Cells can remodel their lipid composition to maintain this localization. Meanwhile, chromatin accessibility changes can stabilize resistance states without any new genetic mutations. This explains how resistance emerges so rapidly.</a:t>
            </a:r>
          </a:p>
          <a:p>
            <a:r>
              <a:rPr lang="en-US" dirty="0"/>
              <a:t>The diagram illustrates this: even when KRAS is 'OFF,' alternative pathways can still drive proliferation."</a:t>
            </a:r>
          </a:p>
        </p:txBody>
      </p:sp>
      <p:sp>
        <p:nvSpPr>
          <p:cNvPr id="4" name="Slide Number Placeholder 3"/>
          <p:cNvSpPr>
            <a:spLocks noGrp="1"/>
          </p:cNvSpPr>
          <p:nvPr>
            <p:ph type="sldNum" sz="quarter" idx="5"/>
          </p:nvPr>
        </p:nvSpPr>
        <p:spPr/>
        <p:txBody>
          <a:bodyPr/>
          <a:lstStyle/>
          <a:p>
            <a:fld id="{67167BDB-5A42-D543-B590-B17E700719CA}" type="slidenum">
              <a:rPr lang="en-US" smtClean="0"/>
              <a:t>3</a:t>
            </a:fld>
            <a:endParaRPr lang="en-US"/>
          </a:p>
        </p:txBody>
      </p:sp>
    </p:spTree>
    <p:extLst>
      <p:ext uri="{BB962C8B-B14F-4D97-AF65-F5344CB8AC3E}">
        <p14:creationId xmlns:p14="http://schemas.microsoft.com/office/powerpoint/2010/main" val="5320998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integrated **four omics layers** to address all resistance mechanisms:</a:t>
            </a:r>
          </a:p>
          <a:p>
            <a:r>
              <a:rPr lang="en-US" dirty="0"/>
              <a:t>&gt;</a:t>
            </a:r>
          </a:p>
          <a:p>
            <a:r>
              <a:rPr lang="en-US" dirty="0"/>
              <a:t>&gt; - **Transcriptomics**: Identifies compensatory genes and pathways</a:t>
            </a:r>
          </a:p>
          <a:p>
            <a:r>
              <a:rPr lang="en-US" dirty="0"/>
              <a:t>&gt; - **</a:t>
            </a:r>
            <a:r>
              <a:rPr lang="en-US" dirty="0" err="1"/>
              <a:t>Phosphoproteomics</a:t>
            </a:r>
            <a:r>
              <a:rPr lang="en-US" dirty="0"/>
              <a:t>**: Maps kinase network rewiring (happens within </a:t>
            </a:r>
            <a:r>
              <a:rPr lang="en-US" dirty="0" err="1"/>
              <a:t>hours”faster</a:t>
            </a:r>
            <a:r>
              <a:rPr lang="en-US" dirty="0"/>
              <a:t> than transcriptomics)</a:t>
            </a:r>
          </a:p>
          <a:p>
            <a:r>
              <a:rPr lang="en-US" dirty="0"/>
              <a:t>&gt; - **</a:t>
            </a:r>
            <a:r>
              <a:rPr lang="en-US" dirty="0" err="1"/>
              <a:t>Lipidomics</a:t>
            </a:r>
            <a:r>
              <a:rPr lang="en-US" dirty="0"/>
              <a:t>**: Measures plasma membrane lipid remodeling sustaining KRAS signaling</a:t>
            </a:r>
          </a:p>
          <a:p>
            <a:r>
              <a:rPr lang="en-US" dirty="0"/>
              <a:t>&gt; - **Epigenomics**: Reveals chromatin accessibility and histone modifications stabilizing resistance</a:t>
            </a:r>
          </a:p>
          <a:p>
            <a:r>
              <a:rPr lang="en-US" dirty="0"/>
              <a:t>&gt;</a:t>
            </a:r>
          </a:p>
          <a:p>
            <a:r>
              <a:rPr lang="en-US" dirty="0"/>
              <a:t>&gt; Each layer captures resistance mechanisms invisible to the others. Integration reveals rational combination therapy targets and predictive biomarkers.</a:t>
            </a:r>
          </a:p>
          <a:p>
            <a:endParaRPr lang="en-US" dirty="0"/>
          </a:p>
        </p:txBody>
      </p:sp>
      <p:sp>
        <p:nvSpPr>
          <p:cNvPr id="4" name="Slide Number Placeholder 3"/>
          <p:cNvSpPr>
            <a:spLocks noGrp="1"/>
          </p:cNvSpPr>
          <p:nvPr>
            <p:ph type="sldNum" sz="quarter" idx="5"/>
          </p:nvPr>
        </p:nvSpPr>
        <p:spPr/>
        <p:txBody>
          <a:bodyPr/>
          <a:lstStyle/>
          <a:p>
            <a:fld id="{67167BDB-5A42-D543-B590-B17E700719CA}" type="slidenum">
              <a:rPr lang="en-US" smtClean="0"/>
              <a:t>4</a:t>
            </a:fld>
            <a:endParaRPr lang="en-US"/>
          </a:p>
        </p:txBody>
      </p:sp>
    </p:spTree>
    <p:extLst>
      <p:ext uri="{BB962C8B-B14F-4D97-AF65-F5344CB8AC3E}">
        <p14:creationId xmlns:p14="http://schemas.microsoft.com/office/powerpoint/2010/main" val="2275762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transcriptomics, we're using isogenic cell lines—same genetic background, different KRAS mutations. We compare wild-type controls against G12C, G12D, G12V, and G13D across three cancer types: pancreatic, colorectal, and lung.</a:t>
            </a:r>
          </a:p>
          <a:p>
            <a:r>
              <a:rPr lang="en-US" dirty="0"/>
              <a:t>Standard RNA-seq with 30-40 million reads per sample, three biological replicates, analyzed with DESeq2 for differential expression and GSEA for pathway enrichment.</a:t>
            </a:r>
          </a:p>
          <a:p>
            <a:r>
              <a:rPr lang="en-US" dirty="0"/>
              <a:t>Based on literature, we expect upregulation of RTK bypass genes like EGFR and MET, PI3K/AKT pathway components, and metabolic adaptation genes. These become our combination therapy targets."</a:t>
            </a:r>
          </a:p>
        </p:txBody>
      </p:sp>
      <p:sp>
        <p:nvSpPr>
          <p:cNvPr id="4" name="Slide Number Placeholder 3"/>
          <p:cNvSpPr>
            <a:spLocks noGrp="1"/>
          </p:cNvSpPr>
          <p:nvPr>
            <p:ph type="sldNum" sz="quarter" idx="5"/>
          </p:nvPr>
        </p:nvSpPr>
        <p:spPr/>
        <p:txBody>
          <a:bodyPr/>
          <a:lstStyle/>
          <a:p>
            <a:fld id="{67167BDB-5A42-D543-B590-B17E700719CA}" type="slidenum">
              <a:rPr lang="en-US" smtClean="0"/>
              <a:t>5</a:t>
            </a:fld>
            <a:endParaRPr lang="en-US"/>
          </a:p>
        </p:txBody>
      </p:sp>
    </p:spTree>
    <p:extLst>
      <p:ext uri="{BB962C8B-B14F-4D97-AF65-F5344CB8AC3E}">
        <p14:creationId xmlns:p14="http://schemas.microsoft.com/office/powerpoint/2010/main" val="4542757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proof-of-concept using simulated data calibrated against published KRAS studies.</a:t>
            </a:r>
          </a:p>
          <a:p>
            <a:r>
              <a:rPr lang="en-US" dirty="0"/>
              <a:t>The volcano plot shows differential expression between KRAS A146 mutant and control cells. We identified 328 significantly altered genes—162 upregulated in red, 166 downregulated in blue. The vertical lines mark our two-fold change cutoff; the horizontal line marks statistical significance. While these carry placeholder gene names, the effect sizes and distribution match what published studies report for KRAS comparisons.</a:t>
            </a:r>
          </a:p>
          <a:p>
            <a:r>
              <a:rPr lang="en-US" dirty="0"/>
              <a:t>In real experimental data, we'd expect genes in this upper-right quadrant—strong upregulation, high significance—to include RTK bypass candidates like EGFR and MET, PI3K/AKT components like PIK3CA and AKT1, and metabolic genes supporting altered energy demands.</a:t>
            </a:r>
          </a:p>
          <a:p>
            <a:r>
              <a:rPr lang="en-US" dirty="0"/>
              <a:t>The PCA plot confirms robust separation between conditions. Controls cluster on the left in blue; KRAS mutants cluster on the right in red. PC1 explains 12% of variance—realistic for a single genetic perturbation in a complex system. This separation confirms KRAS mutation drives a distinct transcriptional program independent of technical variation.</a:t>
            </a:r>
          </a:p>
          <a:p>
            <a:r>
              <a:rPr lang="en-US" dirty="0"/>
              <a:t>The heatmap shows the top 50 differentially expressed genes. Notice the coordinated pattern—genes flip from blue to red across the control-mutant boundary. This consistency across all five replicates indicates a stable transcriptional program, not random noise.</a:t>
            </a:r>
          </a:p>
          <a:p>
            <a:r>
              <a:rPr lang="en-US" dirty="0"/>
              <a:t>When we apply this pipeline to real experimental data, we'll perform GSEA to formally test pathway enrichment. Based on literature from Huang et al. and Liu et al., we anticipate enrichment in KRAS signaling, MAPK cascade, PI3K/AKT pathway, and metabolic reprogramming signatures.</a:t>
            </a:r>
          </a:p>
          <a:p>
            <a:r>
              <a:rPr lang="en-US" dirty="0"/>
              <a:t>The key point: this validated pipeline will identify specific combination therapy targets when applied to our isogenic cell line experiments—addressing the therapeutic gap for all KRAS-mutant patients, not just the 15% with G12C mutations."</a:t>
            </a:r>
          </a:p>
        </p:txBody>
      </p:sp>
      <p:sp>
        <p:nvSpPr>
          <p:cNvPr id="4" name="Slide Number Placeholder 3"/>
          <p:cNvSpPr>
            <a:spLocks noGrp="1"/>
          </p:cNvSpPr>
          <p:nvPr>
            <p:ph type="sldNum" sz="quarter" idx="5"/>
          </p:nvPr>
        </p:nvSpPr>
        <p:spPr/>
        <p:txBody>
          <a:bodyPr/>
          <a:lstStyle/>
          <a:p>
            <a:fld id="{67167BDB-5A42-D543-B590-B17E700719CA}" type="slidenum">
              <a:rPr lang="en-US" smtClean="0"/>
              <a:t>6</a:t>
            </a:fld>
            <a:endParaRPr lang="en-US"/>
          </a:p>
        </p:txBody>
      </p:sp>
    </p:spTree>
    <p:extLst>
      <p:ext uri="{BB962C8B-B14F-4D97-AF65-F5344CB8AC3E}">
        <p14:creationId xmlns:p14="http://schemas.microsoft.com/office/powerpoint/2010/main" val="23777701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move to two complementary layers : **</a:t>
            </a:r>
            <a:r>
              <a:rPr lang="en-US" dirty="0" err="1"/>
              <a:t>phosphoproteomics</a:t>
            </a:r>
            <a:r>
              <a:rPr lang="en-US" dirty="0"/>
              <a:t> and </a:t>
            </a:r>
            <a:r>
              <a:rPr lang="en-US" dirty="0" err="1"/>
              <a:t>lipidomics</a:t>
            </a:r>
            <a:r>
              <a:rPr lang="en-US" dirty="0"/>
              <a:t>**.</a:t>
            </a:r>
          </a:p>
          <a:p>
            <a:r>
              <a:rPr lang="en-US" dirty="0" err="1"/>
              <a:t>Phosphoproteomics</a:t>
            </a:r>
            <a:r>
              <a:rPr lang="en-US" dirty="0"/>
              <a:t> captures how cancer cells rapidly rewire their signaling networks when exposed to therapy—detecting kinase activity shifts like ERK or PI3K/AKT reactivation within hours, which transcriptomics alone misses. We use TMT-based proteomics and KSEA to map these changes across time points in both naive and resistant cells. </a:t>
            </a:r>
          </a:p>
          <a:p>
            <a:endParaRPr lang="en-US" dirty="0"/>
          </a:p>
          <a:p>
            <a:r>
              <a:rPr lang="en-US" dirty="0"/>
              <a:t>Complementing this, </a:t>
            </a:r>
            <a:r>
              <a:rPr lang="en-US" dirty="0" err="1"/>
              <a:t>lipidomics</a:t>
            </a:r>
            <a:r>
              <a:rPr lang="en-US" dirty="0"/>
              <a:t> examines how cells remodel the plasma membrane—enriching specific glycosphingolipids to maintain KRAS anchoring and signaling. By targeting enzymes like UGCG or FASN, we disrupt these lipid adaptations, unlocking a mutation-independent vulnerability relevant for the majority of KRAS-mutant cancers who lack direct inhibitors</a:t>
            </a:r>
          </a:p>
          <a:p>
            <a:endParaRPr lang="en-US" dirty="0"/>
          </a:p>
        </p:txBody>
      </p:sp>
      <p:sp>
        <p:nvSpPr>
          <p:cNvPr id="4" name="Slide Number Placeholder 3"/>
          <p:cNvSpPr>
            <a:spLocks noGrp="1"/>
          </p:cNvSpPr>
          <p:nvPr>
            <p:ph type="sldNum" sz="quarter" idx="5"/>
          </p:nvPr>
        </p:nvSpPr>
        <p:spPr/>
        <p:txBody>
          <a:bodyPr/>
          <a:lstStyle/>
          <a:p>
            <a:fld id="{67167BDB-5A42-D543-B590-B17E700719CA}" type="slidenum">
              <a:rPr lang="en-US" smtClean="0"/>
              <a:t>7</a:t>
            </a:fld>
            <a:endParaRPr lang="en-US"/>
          </a:p>
        </p:txBody>
      </p:sp>
    </p:spTree>
    <p:extLst>
      <p:ext uri="{BB962C8B-B14F-4D97-AF65-F5344CB8AC3E}">
        <p14:creationId xmlns:p14="http://schemas.microsoft.com/office/powerpoint/2010/main" val="32951075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KRAS G12V mutant cells show **lipid remodeling creating a therapeutic vulnerability</a:t>
            </a:r>
          </a:p>
          <a:p>
            <a:endParaRPr lang="en-US" dirty="0"/>
          </a:p>
          <a:p>
            <a:r>
              <a:rPr lang="en-US" dirty="0"/>
              <a:t>The Data**:</a:t>
            </a:r>
          </a:p>
          <a:p>
            <a:r>
              <a:rPr lang="en-US" dirty="0"/>
              <a:t>&gt; - **Ceramides 17%** (36.7 vs 31.4 AU in WT)</a:t>
            </a:r>
          </a:p>
          <a:p>
            <a:r>
              <a:rPr lang="en-US" dirty="0"/>
              <a:t>&gt; - **</a:t>
            </a:r>
            <a:r>
              <a:rPr lang="en-US" dirty="0" err="1"/>
              <a:t>Hexosylceramides</a:t>
            </a:r>
            <a:r>
              <a:rPr lang="en-US" dirty="0"/>
              <a:t>“ 56%** (0.4 vs 0.9 AU)</a:t>
            </a:r>
          </a:p>
          <a:p>
            <a:r>
              <a:rPr lang="en-US" dirty="0"/>
              <a:t>&gt;</a:t>
            </a:r>
          </a:p>
          <a:p>
            <a:pPr marL="171450" indent="-171450">
              <a:buFont typeface="Wingdings" pitchFamily="2" charset="2"/>
              <a:buChar char="Ø"/>
            </a:pPr>
            <a:r>
              <a:rPr lang="en-US" dirty="0"/>
              <a:t>**What This Means**: Ceramides are building blocks for glycosphingolipids (GM3, SM4)</a:t>
            </a:r>
            <a:r>
              <a:rPr lang="en-US" dirty="0" err="1"/>
              <a:t>â</a:t>
            </a:r>
            <a:r>
              <a:rPr lang="en-US" dirty="0"/>
              <a:t>€”the lipids anchoring KRAS to the membrane. The pattern shows *rapid flux through the glycosphingolipid synthesis pathway*. Cells are specifically enriching the membrane lipids required for KRAS localization</a:t>
            </a:r>
          </a:p>
          <a:p>
            <a:pPr marL="171450" indent="-171450">
              <a:buFont typeface="Wingdings" pitchFamily="2" charset="2"/>
              <a:buChar char="Ø"/>
            </a:pPr>
            <a:endParaRPr lang="en-US" dirty="0"/>
          </a:p>
          <a:p>
            <a:pPr marL="171450" indent="-171450">
              <a:buFont typeface="Wingdings" pitchFamily="2" charset="2"/>
              <a:buChar char="Ø"/>
            </a:pPr>
            <a:r>
              <a:rPr lang="en-US" dirty="0"/>
              <a:t>**The Druggable Target**: UGCG inhibition blocks </a:t>
            </a:r>
            <a:r>
              <a:rPr lang="en-US" dirty="0" err="1"/>
              <a:t>hexosylceramide</a:t>
            </a:r>
            <a:r>
              <a:rPr lang="en-US" dirty="0"/>
              <a:t> synthesis, creating a metabolic bottleneck that disrupts KRAS membrane localization.</a:t>
            </a:r>
          </a:p>
          <a:p>
            <a:pPr marL="171450" indent="-171450">
              <a:buFont typeface="Wingdings" pitchFamily="2" charset="2"/>
              <a:buChar char="Ø"/>
            </a:pPr>
            <a:r>
              <a:rPr lang="en-US" dirty="0"/>
              <a:t>&gt;</a:t>
            </a:r>
          </a:p>
          <a:p>
            <a:pPr marL="171450" indent="-171450">
              <a:buFont typeface="Wingdings" pitchFamily="2" charset="2"/>
              <a:buChar char="Ø"/>
            </a:pPr>
            <a:r>
              <a:rPr lang="en-US" dirty="0"/>
              <a:t>&gt; **Clinical Significance**: UGCG inhibition works on **all KRAS-mutant cells** (G12C, G12D, G12V, G13D)</a:t>
            </a:r>
            <a:r>
              <a:rPr lang="en-US" dirty="0" err="1"/>
              <a:t>â</a:t>
            </a:r>
            <a:r>
              <a:rPr lang="en-US" dirty="0"/>
              <a:t>€”offering a mutation-agnostic strategy for the **85% of non-G12C patients**.</a:t>
            </a:r>
          </a:p>
          <a:p>
            <a:pPr marL="171450" indent="-171450">
              <a:buFont typeface="Wingdings" pitchFamily="2" charset="2"/>
              <a:buChar char="Ø"/>
            </a:pPr>
            <a:r>
              <a:rPr lang="en-US" dirty="0"/>
              <a:t>&gt;</a:t>
            </a:r>
          </a:p>
          <a:p>
            <a:pPr marL="171450" indent="-171450">
              <a:buFont typeface="Wingdings" pitchFamily="2" charset="2"/>
              <a:buChar char="Ø"/>
            </a:pPr>
            <a:r>
              <a:rPr lang="en-US" dirty="0"/>
              <a:t>&gt; **Rational Combination**: KRAS inhibitor + glycosphingolipid synthesis inhibitor = targeting both the protein AND its membrane anchor.</a:t>
            </a:r>
          </a:p>
        </p:txBody>
      </p:sp>
      <p:sp>
        <p:nvSpPr>
          <p:cNvPr id="4" name="Slide Number Placeholder 3"/>
          <p:cNvSpPr>
            <a:spLocks noGrp="1"/>
          </p:cNvSpPr>
          <p:nvPr>
            <p:ph type="sldNum" sz="quarter" idx="5"/>
          </p:nvPr>
        </p:nvSpPr>
        <p:spPr/>
        <p:txBody>
          <a:bodyPr/>
          <a:lstStyle/>
          <a:p>
            <a:fld id="{67167BDB-5A42-D543-B590-B17E700719CA}" type="slidenum">
              <a:rPr lang="en-US" smtClean="0"/>
              <a:t>8</a:t>
            </a:fld>
            <a:endParaRPr lang="en-US"/>
          </a:p>
        </p:txBody>
      </p:sp>
    </p:spTree>
    <p:extLst>
      <p:ext uri="{BB962C8B-B14F-4D97-AF65-F5344CB8AC3E}">
        <p14:creationId xmlns:p14="http://schemas.microsoft.com/office/powerpoint/2010/main" val="22924102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layer is epigenomics—revealing how cells develop resistance without any genetic mutations through chromatin remodeling. Using ATAC-seq, we map accessible chromatin regions that open during resistance evolution, identifying resistance-associated enhancers. </a:t>
            </a:r>
            <a:r>
              <a:rPr lang="en-US" dirty="0" err="1"/>
              <a:t>ChIP</a:t>
            </a:r>
            <a:r>
              <a:rPr lang="en-US" dirty="0"/>
              <a:t>-seq profiles active histone marks like H3K27ac at these enhancers and promoters. By integrating this with our transcriptomics data, we mechanistically link chromatin accessibility to resistance gene expression. Motif enrichment then nominates specific transcription factors—HIF-1</a:t>
            </a:r>
            <a:r>
              <a:rPr lang="el-GR" dirty="0"/>
              <a:t>α, </a:t>
            </a:r>
            <a:r>
              <a:rPr lang="en-US" dirty="0"/>
              <a:t>MYC, NF-</a:t>
            </a:r>
            <a:r>
              <a:rPr lang="el-GR" dirty="0"/>
              <a:t>κ</a:t>
            </a:r>
            <a:r>
              <a:rPr lang="en-US" dirty="0"/>
              <a:t>B, STAT3—driving these programs. The therapeutic implication: targeting chromatin remodelers with HAT or BET protein inhibitors disrupts the epigenetic machinery stabilizing resistance. This enables another rational combination—KRAS inhibitor plus epigenetic drug—hitting both the immediate signaling and the transcriptional program maintaining resistance</a:t>
            </a:r>
          </a:p>
        </p:txBody>
      </p:sp>
      <p:sp>
        <p:nvSpPr>
          <p:cNvPr id="4" name="Slide Number Placeholder 3"/>
          <p:cNvSpPr>
            <a:spLocks noGrp="1"/>
          </p:cNvSpPr>
          <p:nvPr>
            <p:ph type="sldNum" sz="quarter" idx="5"/>
          </p:nvPr>
        </p:nvSpPr>
        <p:spPr/>
        <p:txBody>
          <a:bodyPr/>
          <a:lstStyle/>
          <a:p>
            <a:fld id="{67167BDB-5A42-D543-B590-B17E700719CA}" type="slidenum">
              <a:rPr lang="en-US" smtClean="0"/>
              <a:t>9</a:t>
            </a:fld>
            <a:endParaRPr lang="en-US"/>
          </a:p>
        </p:txBody>
      </p:sp>
    </p:spTree>
    <p:extLst>
      <p:ext uri="{BB962C8B-B14F-4D97-AF65-F5344CB8AC3E}">
        <p14:creationId xmlns:p14="http://schemas.microsoft.com/office/powerpoint/2010/main" val="32047991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integrated approach delivers three critical outcomes: First, biomarker panels combining all four omics layers predict resistance before clinical progression, enabling early intervention. Second, rational four-layer combination strategies—KRAS/MEK inhibitors block the direct target, PI3K/AKT inhibitors block bypass signaling, glycosphingolipid synthesis inhibitors disrupt the membrane environment, and epigenetic drugs disable the transcriptional resistance program—each mechanistically justified by our data. Third, therapeutic options for the 85% of non-G12C patients through mutation-specific vulnerabilities: G12V’s lipid dependency, G12D’s PI3K/AKT reliance, and G13D’s epigenetic plasticity enable allele-selective strategies rather than one-size-fits-all approaches</a:t>
            </a:r>
          </a:p>
        </p:txBody>
      </p:sp>
      <p:sp>
        <p:nvSpPr>
          <p:cNvPr id="4" name="Slide Number Placeholder 3"/>
          <p:cNvSpPr>
            <a:spLocks noGrp="1"/>
          </p:cNvSpPr>
          <p:nvPr>
            <p:ph type="sldNum" sz="quarter" idx="5"/>
          </p:nvPr>
        </p:nvSpPr>
        <p:spPr/>
        <p:txBody>
          <a:bodyPr/>
          <a:lstStyle/>
          <a:p>
            <a:fld id="{67167BDB-5A42-D543-B590-B17E700719CA}" type="slidenum">
              <a:rPr lang="en-US" smtClean="0"/>
              <a:t>10</a:t>
            </a:fld>
            <a:endParaRPr lang="en-US"/>
          </a:p>
        </p:txBody>
      </p:sp>
    </p:spTree>
    <p:extLst>
      <p:ext uri="{BB962C8B-B14F-4D97-AF65-F5344CB8AC3E}">
        <p14:creationId xmlns:p14="http://schemas.microsoft.com/office/powerpoint/2010/main" val="33348002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24-30 month project with overlapping phases: Months 1-8 establish cell lines and perform RNA-seq, followed by </a:t>
            </a:r>
            <a:r>
              <a:rPr lang="en-US" dirty="0" err="1"/>
              <a:t>phosphoproteomics</a:t>
            </a:r>
            <a:r>
              <a:rPr lang="en-US" dirty="0"/>
              <a:t> (7-16), </a:t>
            </a:r>
            <a:r>
              <a:rPr lang="en-US" dirty="0" err="1"/>
              <a:t>lipidomics</a:t>
            </a:r>
            <a:r>
              <a:rPr lang="en-US" dirty="0"/>
              <a:t> (10-18), epigenomics (12-22), and final integration and validation (18-30). The budget is $145,000-210,000, covering sequencing ($45-69K), mass spectrometry ($40-50K), </a:t>
            </a:r>
            <a:r>
              <a:rPr lang="en-US" dirty="0" err="1"/>
              <a:t>lipidomics</a:t>
            </a:r>
            <a:r>
              <a:rPr lang="en-US" dirty="0"/>
              <a:t> ($26-37K), computational infrastructure ($10-15K), and reagents ($25-35K)</a:t>
            </a:r>
          </a:p>
          <a:p>
            <a:endParaRPr lang="en-US" dirty="0"/>
          </a:p>
          <a:p>
            <a:r>
              <a:rPr lang="en-US" dirty="0"/>
              <a:t>Every major research project faces real challenges, and we’ve tackled them systematically to ensure credible results. To model authentic resistance, we use multiple independent clones and validate findings in patient-derived xenografts to ensure relevance beyond the lab. For complex data integration across transcriptomics, </a:t>
            </a:r>
            <a:r>
              <a:rPr lang="en-US" dirty="0" err="1"/>
              <a:t>phosphoproteomics</a:t>
            </a:r>
            <a:r>
              <a:rPr lang="en-US" dirty="0"/>
              <a:t>, </a:t>
            </a:r>
            <a:r>
              <a:rPr lang="en-US" dirty="0" err="1"/>
              <a:t>lipidomics</a:t>
            </a:r>
            <a:r>
              <a:rPr lang="en-US" dirty="0"/>
              <a:t>, and epigenomics, we apply gold-standard tools and network frameworks, confirming links at every step. </a:t>
            </a:r>
            <a:r>
              <a:rPr lang="en-US" dirty="0" err="1"/>
              <a:t>Lipidomics</a:t>
            </a:r>
            <a:r>
              <a:rPr lang="en-US" dirty="0"/>
              <a:t> relies on rigorous membrane fraction purity checks with multiple markers and cross-validation. To capture the full dynamics of resistance, we employ time-course experiments, sampling early through late adaptations. Reproducibility is built in with n≥3 biological replicates, batch correction, and orthogonal validation by independent assays. By testing KRAS mutations across three cancer types, we address context dependence, while our strategies for combination therapy and stepwise validation with clinical collaborators ensure results will translate to patient care, not just cell lines.</a:t>
            </a:r>
          </a:p>
          <a:p>
            <a:endParaRPr lang="en-US" dirty="0"/>
          </a:p>
        </p:txBody>
      </p:sp>
      <p:sp>
        <p:nvSpPr>
          <p:cNvPr id="4" name="Slide Number Placeholder 3"/>
          <p:cNvSpPr>
            <a:spLocks noGrp="1"/>
          </p:cNvSpPr>
          <p:nvPr>
            <p:ph type="sldNum" sz="quarter" idx="5"/>
          </p:nvPr>
        </p:nvSpPr>
        <p:spPr/>
        <p:txBody>
          <a:bodyPr/>
          <a:lstStyle/>
          <a:p>
            <a:fld id="{67167BDB-5A42-D543-B590-B17E700719CA}" type="slidenum">
              <a:rPr lang="en-US" smtClean="0"/>
              <a:t>11</a:t>
            </a:fld>
            <a:endParaRPr lang="en-US"/>
          </a:p>
        </p:txBody>
      </p:sp>
    </p:spTree>
    <p:extLst>
      <p:ext uri="{BB962C8B-B14F-4D97-AF65-F5344CB8AC3E}">
        <p14:creationId xmlns:p14="http://schemas.microsoft.com/office/powerpoint/2010/main" val="884137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dirty="0"/>
              <a:t>Click to edit Master title style</a:t>
            </a:r>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latin typeface="+mn-lt"/>
              </a:defRPr>
            </a:lvl1pPr>
          </a:lstStyle>
          <a:p>
            <a:fld id="{11A6662E-FAF4-44BC-88B5-85A7CBFB6D30}" type="datetime1">
              <a:rPr lang="en-US" smtClean="0"/>
              <a:pPr/>
              <a:t>12/2/25</a:t>
            </a:fld>
            <a:endParaRPr lang="en-US"/>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latin typeface="+mn-lt"/>
              </a:defRPr>
            </a:lvl1pPr>
          </a:lstStyle>
          <a:p>
            <a:endParaRPr lang="en-US"/>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3565794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838200" y="365760"/>
            <a:ext cx="105156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12/2/25</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873652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12/2/25</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103503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12/2/25</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32353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839788" y="1752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839788" y="2666999"/>
            <a:ext cx="5157787"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183188"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12/2/25</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621211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p:txBody>
          <a:bodyPr/>
          <a:lstStyle/>
          <a:p>
            <a:fld id="{3AB41CFF-90C9-47B3-9DA1-F2BF8D839F7E}" type="datetime1">
              <a:rPr lang="en-US" smtClean="0"/>
              <a:t>12/2/25</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533457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12/2/25</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86816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12/2/25</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0756961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12/2/25</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85712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12/2/25</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122322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12/2/25</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271754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3">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fld id="{57E0CF6C-748E-4B7A-BC8B-3011EF78ED13}" type="datetime1">
              <a:rPr lang="en-US" smtClean="0"/>
              <a:pPr/>
              <a:t>12/2/25</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2738560164"/>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01" r:id="rId7"/>
    <p:sldLayoutId id="2147483702" r:id="rId8"/>
    <p:sldLayoutId id="2147483703" r:id="rId9"/>
    <p:sldLayoutId id="2147483704" r:id="rId10"/>
    <p:sldLayoutId id="2147483711" r:id="rId11"/>
  </p:sldLayoutIdLst>
  <p:hf sldNum="0" hdr="0" ftr="0" dt="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gif"/></Relationships>
</file>

<file path=ppt/slides/_rels/slide11.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27DF4-A9FB-E81B-BF71-3AF9092889CA}"/>
              </a:ext>
            </a:extLst>
          </p:cNvPr>
          <p:cNvSpPr>
            <a:spLocks noGrp="1"/>
          </p:cNvSpPr>
          <p:nvPr>
            <p:ph type="ctrTitle"/>
          </p:nvPr>
        </p:nvSpPr>
        <p:spPr/>
        <p:txBody>
          <a:bodyPr>
            <a:normAutofit fontScale="90000"/>
          </a:bodyPr>
          <a:lstStyle/>
          <a:p>
            <a:r>
              <a:rPr lang="en-US">
                <a:solidFill>
                  <a:srgbClr val="FFFFFF"/>
                </a:solidFill>
              </a:rPr>
              <a:t>Multi-omics dissection of therapeutic resistance mechanisms</a:t>
            </a:r>
            <a:br>
              <a:rPr lang="en-US">
                <a:solidFill>
                  <a:srgbClr val="FFFFFF"/>
                </a:solidFill>
              </a:rPr>
            </a:br>
            <a:r>
              <a:rPr lang="en-US">
                <a:solidFill>
                  <a:srgbClr val="FFFFFF"/>
                </a:solidFill>
              </a:rPr>
              <a:t>in KRAS-mutant cancers to identify rational combination</a:t>
            </a:r>
            <a:br>
              <a:rPr lang="en-US">
                <a:solidFill>
                  <a:srgbClr val="FFFFFF"/>
                </a:solidFill>
              </a:rPr>
            </a:br>
            <a:r>
              <a:rPr lang="en-US">
                <a:solidFill>
                  <a:srgbClr val="FFFFFF"/>
                </a:solidFill>
              </a:rPr>
              <a:t>strategies</a:t>
            </a:r>
            <a:endParaRPr lang="en-US" dirty="0"/>
          </a:p>
        </p:txBody>
      </p:sp>
      <p:sp>
        <p:nvSpPr>
          <p:cNvPr id="3" name="Subtitle 2">
            <a:extLst>
              <a:ext uri="{FF2B5EF4-FFF2-40B4-BE49-F238E27FC236}">
                <a16:creationId xmlns:a16="http://schemas.microsoft.com/office/drawing/2014/main" id="{BFF6CB6B-A4AB-97D3-637E-5BB89C0CE691}"/>
              </a:ext>
            </a:extLst>
          </p:cNvPr>
          <p:cNvSpPr>
            <a:spLocks noGrp="1"/>
          </p:cNvSpPr>
          <p:nvPr>
            <p:ph type="subTitle" idx="1"/>
          </p:nvPr>
        </p:nvSpPr>
        <p:spPr>
          <a:xfrm>
            <a:off x="0" y="4246274"/>
            <a:ext cx="12192000" cy="1655762"/>
          </a:xfrm>
        </p:spPr>
        <p:txBody>
          <a:bodyPr>
            <a:noAutofit/>
          </a:bodyPr>
          <a:lstStyle/>
          <a:p>
            <a:pPr>
              <a:lnSpc>
                <a:spcPct val="100000"/>
              </a:lnSpc>
              <a:spcAft>
                <a:spcPts val="600"/>
              </a:spcAft>
            </a:pPr>
            <a:r>
              <a:rPr lang="en-US" sz="1500" b="1" dirty="0">
                <a:solidFill>
                  <a:srgbClr val="FFFFFF"/>
                </a:solidFill>
              </a:rPr>
              <a:t>Koushik Muthuselvam, Sarvesh Sunil Kurup</a:t>
            </a:r>
          </a:p>
          <a:p>
            <a:pPr>
              <a:lnSpc>
                <a:spcPct val="100000"/>
              </a:lnSpc>
              <a:spcAft>
                <a:spcPts val="600"/>
              </a:spcAft>
            </a:pPr>
            <a:r>
              <a:rPr lang="en-US" sz="1500" b="1" dirty="0">
                <a:solidFill>
                  <a:srgbClr val="FFFFFF"/>
                </a:solidFill>
              </a:rPr>
              <a:t>College of Science, Northeastern University</a:t>
            </a:r>
          </a:p>
          <a:p>
            <a:pPr>
              <a:lnSpc>
                <a:spcPct val="100000"/>
              </a:lnSpc>
              <a:spcAft>
                <a:spcPts val="600"/>
              </a:spcAft>
            </a:pPr>
            <a:r>
              <a:rPr lang="en-US" sz="1500" b="1" dirty="0">
                <a:solidFill>
                  <a:srgbClr val="FFFFFF"/>
                </a:solidFill>
              </a:rPr>
              <a:t>BINF6420: Omics in Bioinformatics</a:t>
            </a:r>
          </a:p>
          <a:p>
            <a:pPr>
              <a:lnSpc>
                <a:spcPct val="100000"/>
              </a:lnSpc>
              <a:spcAft>
                <a:spcPts val="600"/>
              </a:spcAft>
            </a:pPr>
            <a:r>
              <a:rPr lang="en-US" sz="1500" b="1" dirty="0">
                <a:solidFill>
                  <a:srgbClr val="FFFFFF"/>
                </a:solidFill>
              </a:rPr>
              <a:t>Prof. Max Wolf</a:t>
            </a:r>
          </a:p>
          <a:p>
            <a:pPr>
              <a:lnSpc>
                <a:spcPct val="100000"/>
              </a:lnSpc>
              <a:spcAft>
                <a:spcPts val="600"/>
              </a:spcAft>
            </a:pPr>
            <a:r>
              <a:rPr lang="en-US" sz="1500" b="1" dirty="0">
                <a:solidFill>
                  <a:srgbClr val="FFFFFF"/>
                </a:solidFill>
              </a:rPr>
              <a:t>December 1, 2025</a:t>
            </a:r>
          </a:p>
        </p:txBody>
      </p:sp>
    </p:spTree>
    <p:extLst>
      <p:ext uri="{BB962C8B-B14F-4D97-AF65-F5344CB8AC3E}">
        <p14:creationId xmlns:p14="http://schemas.microsoft.com/office/powerpoint/2010/main" val="2649904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5B421B-4CD3-4881-E497-A593CD39D558}"/>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0" name="Rectangle 29">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1" name="Rectangle 30">
            <a:extLst>
              <a:ext uri="{FF2B5EF4-FFF2-40B4-BE49-F238E27FC236}">
                <a16:creationId xmlns:a16="http://schemas.microsoft.com/office/drawing/2014/main" id="{094C9708-F6A4-4956-B261-A4A2C4DFE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2" name="Rectangle 31">
            <a:extLst>
              <a:ext uri="{FF2B5EF4-FFF2-40B4-BE49-F238E27FC236}">
                <a16:creationId xmlns:a16="http://schemas.microsoft.com/office/drawing/2014/main" id="{592DB257-3E16-4A3C-9E28-468282812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50"/>
            <a:ext cx="6254652"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8" name="Rectangle 27">
            <a:extLst>
              <a:ext uri="{FF2B5EF4-FFF2-40B4-BE49-F238E27FC236}">
                <a16:creationId xmlns:a16="http://schemas.microsoft.com/office/drawing/2014/main" id="{487685E6-1160-459B-8C70-301404C06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048" y="0"/>
            <a:ext cx="6251447"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0696E4B-2D83-E7D4-F0F7-C7E1FFFDE92C}"/>
              </a:ext>
            </a:extLst>
          </p:cNvPr>
          <p:cNvSpPr>
            <a:spLocks noGrp="1"/>
          </p:cNvSpPr>
          <p:nvPr>
            <p:ph type="title"/>
          </p:nvPr>
        </p:nvSpPr>
        <p:spPr>
          <a:xfrm>
            <a:off x="838200" y="586992"/>
            <a:ext cx="4953000" cy="566399"/>
          </a:xfrm>
        </p:spPr>
        <p:txBody>
          <a:bodyPr>
            <a:normAutofit fontScale="90000"/>
          </a:bodyPr>
          <a:lstStyle/>
          <a:p>
            <a:pPr>
              <a:lnSpc>
                <a:spcPct val="90000"/>
              </a:lnSpc>
            </a:pPr>
            <a:r>
              <a:rPr lang="en-US" sz="3700" dirty="0"/>
              <a:t>KRAS</a:t>
            </a:r>
            <a:br>
              <a:rPr lang="en-US" sz="3700" dirty="0"/>
            </a:br>
            <a:r>
              <a:rPr lang="en-US" sz="3700" dirty="0"/>
              <a:t>WHY IT MATTERS?</a:t>
            </a:r>
          </a:p>
        </p:txBody>
      </p:sp>
      <p:graphicFrame>
        <p:nvGraphicFramePr>
          <p:cNvPr id="6" name="Content Placeholder 2">
            <a:extLst>
              <a:ext uri="{FF2B5EF4-FFF2-40B4-BE49-F238E27FC236}">
                <a16:creationId xmlns:a16="http://schemas.microsoft.com/office/drawing/2014/main" id="{8E9A1863-AC55-A4E1-4E4B-DC44C20A3599}"/>
              </a:ext>
            </a:extLst>
          </p:cNvPr>
          <p:cNvGraphicFramePr>
            <a:graphicFrameLocks noGrp="1"/>
          </p:cNvGraphicFramePr>
          <p:nvPr>
            <p:ph idx="1"/>
            <p:extLst>
              <p:ext uri="{D42A27DB-BD31-4B8C-83A1-F6EECF244321}">
                <p14:modId xmlns:p14="http://schemas.microsoft.com/office/powerpoint/2010/main" val="727472230"/>
              </p:ext>
            </p:extLst>
          </p:nvPr>
        </p:nvGraphicFramePr>
        <p:xfrm>
          <a:off x="228600" y="1839191"/>
          <a:ext cx="5867400" cy="463434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descr="A blue and white structure&#10;&#10;AI-generated content may be incorrect.">
            <a:extLst>
              <a:ext uri="{FF2B5EF4-FFF2-40B4-BE49-F238E27FC236}">
                <a16:creationId xmlns:a16="http://schemas.microsoft.com/office/drawing/2014/main" id="{9AC907CF-3A9B-5F56-1E78-87586D7AE1AB}"/>
              </a:ext>
            </a:extLst>
          </p:cNvPr>
          <p:cNvPicPr>
            <a:picLocks noChangeAspect="1"/>
          </p:cNvPicPr>
          <p:nvPr/>
        </p:nvPicPr>
        <p:blipFill>
          <a:blip r:embed="rId9"/>
          <a:stretch>
            <a:fillRect/>
          </a:stretch>
        </p:blipFill>
        <p:spPr>
          <a:xfrm>
            <a:off x="6378741" y="1288473"/>
            <a:ext cx="5842280" cy="484909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Tree>
    <p:extLst>
      <p:ext uri="{BB962C8B-B14F-4D97-AF65-F5344CB8AC3E}">
        <p14:creationId xmlns:p14="http://schemas.microsoft.com/office/powerpoint/2010/main" val="766024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3" name="Rectangle 1052">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54" name="Rectangle 1053">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55" name="Rectangle 1054">
            <a:extLst>
              <a:ext uri="{FF2B5EF4-FFF2-40B4-BE49-F238E27FC236}">
                <a16:creationId xmlns:a16="http://schemas.microsoft.com/office/drawing/2014/main" id="{094C9708-F6A4-4956-B261-A4A2C4DFE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56" name="Rectangle 1055">
            <a:extLst>
              <a:ext uri="{FF2B5EF4-FFF2-40B4-BE49-F238E27FC236}">
                <a16:creationId xmlns:a16="http://schemas.microsoft.com/office/drawing/2014/main" id="{592DB257-3E16-4A3C-9E28-468282812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50"/>
            <a:ext cx="6254652"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52" name="Rectangle 1051">
            <a:extLst>
              <a:ext uri="{FF2B5EF4-FFF2-40B4-BE49-F238E27FC236}">
                <a16:creationId xmlns:a16="http://schemas.microsoft.com/office/drawing/2014/main" id="{487685E6-1160-459B-8C70-301404C06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048" y="0"/>
            <a:ext cx="6251447"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AFF3CB3-8A64-347F-6D39-7328D9066F46}"/>
              </a:ext>
            </a:extLst>
          </p:cNvPr>
          <p:cNvSpPr>
            <a:spLocks noGrp="1"/>
          </p:cNvSpPr>
          <p:nvPr>
            <p:ph type="title"/>
          </p:nvPr>
        </p:nvSpPr>
        <p:spPr>
          <a:xfrm>
            <a:off x="838200" y="586992"/>
            <a:ext cx="4953000" cy="1664573"/>
          </a:xfrm>
        </p:spPr>
        <p:txBody>
          <a:bodyPr>
            <a:normAutofit/>
          </a:bodyPr>
          <a:lstStyle/>
          <a:p>
            <a:r>
              <a:rPr lang="en-US"/>
              <a:t>Resistance mechanisms</a:t>
            </a:r>
            <a:endParaRPr lang="en-US" dirty="0"/>
          </a:p>
        </p:txBody>
      </p:sp>
      <p:sp>
        <p:nvSpPr>
          <p:cNvPr id="3" name="Content Placeholder 2">
            <a:extLst>
              <a:ext uri="{FF2B5EF4-FFF2-40B4-BE49-F238E27FC236}">
                <a16:creationId xmlns:a16="http://schemas.microsoft.com/office/drawing/2014/main" id="{924B7278-977E-7EBC-B69F-933BB3792867}"/>
              </a:ext>
            </a:extLst>
          </p:cNvPr>
          <p:cNvSpPr>
            <a:spLocks noGrp="1"/>
          </p:cNvSpPr>
          <p:nvPr>
            <p:ph idx="1"/>
          </p:nvPr>
        </p:nvSpPr>
        <p:spPr>
          <a:xfrm>
            <a:off x="838200" y="2411653"/>
            <a:ext cx="4952681" cy="3728613"/>
          </a:xfrm>
        </p:spPr>
        <p:txBody>
          <a:bodyPr>
            <a:normAutofit/>
          </a:bodyPr>
          <a:lstStyle/>
          <a:p>
            <a:pPr>
              <a:lnSpc>
                <a:spcPct val="100000"/>
              </a:lnSpc>
            </a:pPr>
            <a:r>
              <a:rPr lang="en-US" sz="1700"/>
              <a:t>EGFR-mediated MAPK reactivation</a:t>
            </a:r>
          </a:p>
          <a:p>
            <a:pPr lvl="1">
              <a:lnSpc>
                <a:spcPct val="100000"/>
              </a:lnSpc>
            </a:pPr>
            <a:r>
              <a:rPr lang="en-US" sz="1700"/>
              <a:t>Alternative RTKs bypass KRAS inhibition; reactivate MAPK/ERK signaling within weeks</a:t>
            </a:r>
          </a:p>
          <a:p>
            <a:pPr>
              <a:lnSpc>
                <a:spcPct val="100000"/>
              </a:lnSpc>
            </a:pPr>
            <a:r>
              <a:rPr lang="en-US" sz="1700"/>
              <a:t>PI3K/AKT hyperactivation</a:t>
            </a:r>
          </a:p>
          <a:p>
            <a:pPr lvl="1">
              <a:lnSpc>
                <a:spcPct val="100000"/>
              </a:lnSpc>
            </a:pPr>
            <a:r>
              <a:rPr lang="en-US" sz="1700"/>
              <a:t>Independent survival pathway; enables proliferation despite KRAS blockade</a:t>
            </a:r>
          </a:p>
          <a:p>
            <a:pPr>
              <a:lnSpc>
                <a:spcPct val="100000"/>
              </a:lnSpc>
            </a:pPr>
            <a:r>
              <a:rPr lang="en-US" sz="1700"/>
              <a:t>Lipid remodeling &amp; epigenetic plasticity</a:t>
            </a:r>
          </a:p>
          <a:p>
            <a:pPr lvl="1">
              <a:lnSpc>
                <a:spcPct val="100000"/>
              </a:lnSpc>
            </a:pPr>
            <a:r>
              <a:rPr lang="en-US" sz="1700"/>
              <a:t>Membrane lipid changes enable KRAS relocalization; chromatin accessibility changes stabilize resistance WITHOUT genetic mutations</a:t>
            </a:r>
          </a:p>
        </p:txBody>
      </p:sp>
      <p:pic>
        <p:nvPicPr>
          <p:cNvPr id="1032" name="Picture 8" descr="The Role of KRAS Mutations in Colorectal Cancer: Biological Insights,  Clinical Implications, and Future Therapeutic Perspectives">
            <a:extLst>
              <a:ext uri="{FF2B5EF4-FFF2-40B4-BE49-F238E27FC236}">
                <a16:creationId xmlns:a16="http://schemas.microsoft.com/office/drawing/2014/main" id="{9262BB2D-D7C9-CF11-E376-8237CB360A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37395" y="719544"/>
            <a:ext cx="5771861" cy="5628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4548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64BE7E-8E95-EBF2-A8A7-8D692C317127}"/>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7" name="Rectangle 46">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9" name="Rectangle 48">
            <a:extLst>
              <a:ext uri="{FF2B5EF4-FFF2-40B4-BE49-F238E27FC236}">
                <a16:creationId xmlns:a16="http://schemas.microsoft.com/office/drawing/2014/main" id="{592DB257-3E16-4A3C-9E28-468282812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5989027"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1" name="Rectangle 50">
            <a:extLst>
              <a:ext uri="{FF2B5EF4-FFF2-40B4-BE49-F238E27FC236}">
                <a16:creationId xmlns:a16="http://schemas.microsoft.com/office/drawing/2014/main" id="{487685E6-1160-459B-8C70-301404C06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48" y="0"/>
            <a:ext cx="5989019"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094C9708-F6A4-4956-B261-A4A2C4DFE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1867D4A4-EBD2-4B62-EACB-0DB66D76BEDA}"/>
              </a:ext>
            </a:extLst>
          </p:cNvPr>
          <p:cNvSpPr>
            <a:spLocks noGrp="1"/>
          </p:cNvSpPr>
          <p:nvPr>
            <p:ph type="title"/>
          </p:nvPr>
        </p:nvSpPr>
        <p:spPr>
          <a:xfrm>
            <a:off x="6553200" y="586992"/>
            <a:ext cx="4953000" cy="1664573"/>
          </a:xfrm>
        </p:spPr>
        <p:txBody>
          <a:bodyPr>
            <a:normAutofit/>
          </a:bodyPr>
          <a:lstStyle/>
          <a:p>
            <a:r>
              <a:rPr lang="en-US">
                <a:solidFill>
                  <a:schemeClr val="tx2"/>
                </a:solidFill>
              </a:rPr>
              <a:t>The Multiomics Approach</a:t>
            </a:r>
          </a:p>
        </p:txBody>
      </p:sp>
      <p:pic>
        <p:nvPicPr>
          <p:cNvPr id="9" name="Picture 8" descr="A cartoon of a person in different poses&#10;&#10;AI-generated content may be incorrect.">
            <a:extLst>
              <a:ext uri="{FF2B5EF4-FFF2-40B4-BE49-F238E27FC236}">
                <a16:creationId xmlns:a16="http://schemas.microsoft.com/office/drawing/2014/main" id="{E188BF75-2164-5AA5-F35D-89C7DFF054EC}"/>
              </a:ext>
            </a:extLst>
          </p:cNvPr>
          <p:cNvPicPr>
            <a:picLocks noChangeAspect="1"/>
          </p:cNvPicPr>
          <p:nvPr/>
        </p:nvPicPr>
        <p:blipFill>
          <a:blip r:embed="rId4"/>
          <a:srcRect t="12227" b="9521"/>
          <a:stretch>
            <a:fillRect/>
          </a:stretch>
        </p:blipFill>
        <p:spPr>
          <a:xfrm>
            <a:off x="207818" y="1288717"/>
            <a:ext cx="5548746" cy="4124948"/>
          </a:xfrm>
          <a:prstGeom prst="rect">
            <a:avLst/>
          </a:prstGeom>
        </p:spPr>
      </p:pic>
      <p:sp>
        <p:nvSpPr>
          <p:cNvPr id="3" name="Content Placeholder 2">
            <a:extLst>
              <a:ext uri="{FF2B5EF4-FFF2-40B4-BE49-F238E27FC236}">
                <a16:creationId xmlns:a16="http://schemas.microsoft.com/office/drawing/2014/main" id="{B12CF0DE-15AF-0859-A7A8-FD21AA3C10F3}"/>
              </a:ext>
            </a:extLst>
          </p:cNvPr>
          <p:cNvSpPr>
            <a:spLocks noGrp="1"/>
          </p:cNvSpPr>
          <p:nvPr>
            <p:ph idx="1"/>
          </p:nvPr>
        </p:nvSpPr>
        <p:spPr>
          <a:xfrm>
            <a:off x="6553200" y="2411653"/>
            <a:ext cx="4952681" cy="3728613"/>
          </a:xfrm>
        </p:spPr>
        <p:txBody>
          <a:bodyPr>
            <a:normAutofit/>
          </a:bodyPr>
          <a:lstStyle/>
          <a:p>
            <a:r>
              <a:rPr lang="en-US" sz="1800">
                <a:solidFill>
                  <a:schemeClr val="tx2"/>
                </a:solidFill>
              </a:rPr>
              <a:t>Transcriptomics → Compensatory pathways</a:t>
            </a:r>
          </a:p>
          <a:p>
            <a:r>
              <a:rPr lang="en-US" sz="1800">
                <a:solidFill>
                  <a:schemeClr val="tx2"/>
                </a:solidFill>
              </a:rPr>
              <a:t>Phosphoproteomics → Kinase network rewiring</a:t>
            </a:r>
          </a:p>
          <a:p>
            <a:r>
              <a:rPr lang="en-US" sz="1800">
                <a:solidFill>
                  <a:schemeClr val="tx2"/>
                </a:solidFill>
              </a:rPr>
              <a:t>Lipidomics → KRAS membrane localization</a:t>
            </a:r>
          </a:p>
          <a:p>
            <a:r>
              <a:rPr lang="en-US" sz="1800">
                <a:solidFill>
                  <a:schemeClr val="tx2"/>
                </a:solidFill>
              </a:rPr>
              <a:t>Epigenomics → Chromatin remodeling</a:t>
            </a:r>
          </a:p>
        </p:txBody>
      </p:sp>
    </p:spTree>
    <p:extLst>
      <p:ext uri="{BB962C8B-B14F-4D97-AF65-F5344CB8AC3E}">
        <p14:creationId xmlns:p14="http://schemas.microsoft.com/office/powerpoint/2010/main" val="3979052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4" name="Rectangle 13">
            <a:extLst>
              <a:ext uri="{FF2B5EF4-FFF2-40B4-BE49-F238E27FC236}">
                <a16:creationId xmlns:a16="http://schemas.microsoft.com/office/drawing/2014/main" id="{592DB257-3E16-4A3C-9E28-468282812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5989027"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Rectangle 15">
            <a:extLst>
              <a:ext uri="{FF2B5EF4-FFF2-40B4-BE49-F238E27FC236}">
                <a16:creationId xmlns:a16="http://schemas.microsoft.com/office/drawing/2014/main" id="{487685E6-1160-459B-8C70-301404C06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48" y="0"/>
            <a:ext cx="5989019"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94C9708-F6A4-4956-B261-A4A2C4DFE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99CAEAA1-4529-8B7D-D269-4CAB3F247F1F}"/>
              </a:ext>
            </a:extLst>
          </p:cNvPr>
          <p:cNvSpPr>
            <a:spLocks noGrp="1"/>
          </p:cNvSpPr>
          <p:nvPr>
            <p:ph type="title"/>
          </p:nvPr>
        </p:nvSpPr>
        <p:spPr>
          <a:xfrm>
            <a:off x="6553200" y="586992"/>
            <a:ext cx="4953000" cy="1664573"/>
          </a:xfrm>
        </p:spPr>
        <p:txBody>
          <a:bodyPr>
            <a:normAutofit/>
          </a:bodyPr>
          <a:lstStyle/>
          <a:p>
            <a:r>
              <a:rPr lang="en-US">
                <a:solidFill>
                  <a:schemeClr val="tx2"/>
                </a:solidFill>
              </a:rPr>
              <a:t>Transcriptomics Design</a:t>
            </a:r>
          </a:p>
        </p:txBody>
      </p:sp>
      <p:pic>
        <p:nvPicPr>
          <p:cNvPr id="5" name="Picture 4" descr="Cartoon of a computer and machine&#10;&#10;AI-generated content may be incorrect.">
            <a:extLst>
              <a:ext uri="{FF2B5EF4-FFF2-40B4-BE49-F238E27FC236}">
                <a16:creationId xmlns:a16="http://schemas.microsoft.com/office/drawing/2014/main" id="{4E4A8E4F-CC13-2DB9-4D9B-B345AA32B69E}"/>
              </a:ext>
            </a:extLst>
          </p:cNvPr>
          <p:cNvPicPr>
            <a:picLocks noChangeAspect="1"/>
          </p:cNvPicPr>
          <p:nvPr/>
        </p:nvPicPr>
        <p:blipFill>
          <a:blip r:embed="rId4"/>
          <a:stretch>
            <a:fillRect/>
          </a:stretch>
        </p:blipFill>
        <p:spPr>
          <a:xfrm>
            <a:off x="280555" y="798554"/>
            <a:ext cx="5465618" cy="5055695"/>
          </a:xfrm>
          <a:prstGeom prst="rect">
            <a:avLst/>
          </a:prstGeom>
        </p:spPr>
      </p:pic>
      <p:sp>
        <p:nvSpPr>
          <p:cNvPr id="3" name="Content Placeholder 2">
            <a:extLst>
              <a:ext uri="{FF2B5EF4-FFF2-40B4-BE49-F238E27FC236}">
                <a16:creationId xmlns:a16="http://schemas.microsoft.com/office/drawing/2014/main" id="{F6A01B2B-4F09-DCE4-8CD0-15B3F5F3A313}"/>
              </a:ext>
            </a:extLst>
          </p:cNvPr>
          <p:cNvSpPr>
            <a:spLocks noGrp="1"/>
          </p:cNvSpPr>
          <p:nvPr>
            <p:ph idx="1"/>
          </p:nvPr>
        </p:nvSpPr>
        <p:spPr>
          <a:xfrm>
            <a:off x="6553200" y="2411653"/>
            <a:ext cx="4952681" cy="3728613"/>
          </a:xfrm>
        </p:spPr>
        <p:txBody>
          <a:bodyPr>
            <a:normAutofit/>
          </a:bodyPr>
          <a:lstStyle/>
          <a:p>
            <a:pPr>
              <a:lnSpc>
                <a:spcPct val="100000"/>
              </a:lnSpc>
            </a:pPr>
            <a:r>
              <a:rPr lang="en-US" sz="1700">
                <a:solidFill>
                  <a:schemeClr val="tx2"/>
                </a:solidFill>
              </a:rPr>
              <a:t>Bulk RNA-seq: 4 KRAS mutants × 3 cancer types</a:t>
            </a:r>
          </a:p>
          <a:p>
            <a:pPr lvl="1">
              <a:lnSpc>
                <a:spcPct val="100000"/>
              </a:lnSpc>
            </a:pPr>
            <a:r>
              <a:rPr lang="en-US" sz="1700">
                <a:solidFill>
                  <a:schemeClr val="tx2"/>
                </a:solidFill>
              </a:rPr>
              <a:t>Compare WT controls vs. G12C, G12D, G12V, G13D across PDAC, CRC, NSCLC</a:t>
            </a:r>
          </a:p>
          <a:p>
            <a:pPr>
              <a:lnSpc>
                <a:spcPct val="100000"/>
              </a:lnSpc>
            </a:pPr>
            <a:r>
              <a:rPr lang="en-US" sz="1700">
                <a:solidFill>
                  <a:schemeClr val="tx2"/>
                </a:solidFill>
              </a:rPr>
              <a:t>30-40M reads/sample; DESeq2 + GSEA pathway analysis</a:t>
            </a:r>
          </a:p>
          <a:p>
            <a:pPr lvl="1">
              <a:lnSpc>
                <a:spcPct val="100000"/>
              </a:lnSpc>
            </a:pPr>
            <a:r>
              <a:rPr lang="en-US" sz="1700">
                <a:solidFill>
                  <a:schemeClr val="tx2"/>
                </a:solidFill>
              </a:rPr>
              <a:t>n=3 replicates; NovaSeq 6000 platform; identify enriched pathways</a:t>
            </a:r>
          </a:p>
          <a:p>
            <a:pPr>
              <a:lnSpc>
                <a:spcPct val="100000"/>
              </a:lnSpc>
            </a:pPr>
            <a:r>
              <a:rPr lang="en-US" sz="1700">
                <a:solidFill>
                  <a:schemeClr val="tx2"/>
                </a:solidFill>
              </a:rPr>
              <a:t>Expected: ~ upregulated resistance genes</a:t>
            </a:r>
          </a:p>
          <a:p>
            <a:pPr lvl="1">
              <a:lnSpc>
                <a:spcPct val="100000"/>
              </a:lnSpc>
            </a:pPr>
            <a:r>
              <a:rPr lang="en-US" sz="1700">
                <a:solidFill>
                  <a:schemeClr val="tx2"/>
                </a:solidFill>
              </a:rPr>
              <a:t>RTK bypass targets (EGFR, MET, HER2/3), PI3K/AKT components, metabolic adaptation genes</a:t>
            </a:r>
          </a:p>
        </p:txBody>
      </p:sp>
    </p:spTree>
    <p:extLst>
      <p:ext uri="{BB962C8B-B14F-4D97-AF65-F5344CB8AC3E}">
        <p14:creationId xmlns:p14="http://schemas.microsoft.com/office/powerpoint/2010/main" val="2932621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094C9708-F6A4-4956-B261-A4A2C4DFE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5" name="Rectangle 14">
            <a:extLst>
              <a:ext uri="{FF2B5EF4-FFF2-40B4-BE49-F238E27FC236}">
                <a16:creationId xmlns:a16="http://schemas.microsoft.com/office/drawing/2014/main" id="{592DB257-3E16-4A3C-9E28-468282812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50"/>
            <a:ext cx="6254652"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7" name="Rectangle 16">
            <a:extLst>
              <a:ext uri="{FF2B5EF4-FFF2-40B4-BE49-F238E27FC236}">
                <a16:creationId xmlns:a16="http://schemas.microsoft.com/office/drawing/2014/main" id="{487685E6-1160-459B-8C70-301404C06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048" y="0"/>
            <a:ext cx="6251447"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7C73A05-74E0-5C2B-3DF9-AC0617DCCA80}"/>
              </a:ext>
            </a:extLst>
          </p:cNvPr>
          <p:cNvSpPr>
            <a:spLocks noGrp="1"/>
          </p:cNvSpPr>
          <p:nvPr>
            <p:ph type="title"/>
          </p:nvPr>
        </p:nvSpPr>
        <p:spPr>
          <a:xfrm>
            <a:off x="838200" y="586992"/>
            <a:ext cx="4953000" cy="1664573"/>
          </a:xfrm>
        </p:spPr>
        <p:txBody>
          <a:bodyPr>
            <a:normAutofit/>
          </a:bodyPr>
          <a:lstStyle/>
          <a:p>
            <a:pPr>
              <a:lnSpc>
                <a:spcPct val="90000"/>
              </a:lnSpc>
            </a:pPr>
            <a:r>
              <a:rPr lang="en-US" sz="3700"/>
              <a:t>Simulated Transcriptomics Results </a:t>
            </a:r>
          </a:p>
        </p:txBody>
      </p:sp>
      <p:sp>
        <p:nvSpPr>
          <p:cNvPr id="3" name="Content Placeholder 2">
            <a:extLst>
              <a:ext uri="{FF2B5EF4-FFF2-40B4-BE49-F238E27FC236}">
                <a16:creationId xmlns:a16="http://schemas.microsoft.com/office/drawing/2014/main" id="{D55B4FD3-A2FB-F628-9284-E5E77FA8C27E}"/>
              </a:ext>
            </a:extLst>
          </p:cNvPr>
          <p:cNvSpPr>
            <a:spLocks noGrp="1"/>
          </p:cNvSpPr>
          <p:nvPr>
            <p:ph idx="1"/>
          </p:nvPr>
        </p:nvSpPr>
        <p:spPr>
          <a:xfrm>
            <a:off x="838200" y="2411653"/>
            <a:ext cx="4952681" cy="3728613"/>
          </a:xfrm>
        </p:spPr>
        <p:txBody>
          <a:bodyPr>
            <a:normAutofit/>
          </a:bodyPr>
          <a:lstStyle/>
          <a:p>
            <a:pPr>
              <a:lnSpc>
                <a:spcPct val="100000"/>
              </a:lnSpc>
            </a:pPr>
            <a:r>
              <a:rPr lang="en-US" sz="1700" dirty="0"/>
              <a:t>328 altered genes: 162 up, 166 down</a:t>
            </a:r>
          </a:p>
          <a:p>
            <a:pPr lvl="1">
              <a:lnSpc>
                <a:spcPct val="100000"/>
              </a:lnSpc>
            </a:pPr>
            <a:r>
              <a:rPr lang="en-US" sz="1700" dirty="0"/>
              <a:t>KRAS A146 mutant vs. control; includes predicted RTK bypass candidates</a:t>
            </a:r>
          </a:p>
          <a:p>
            <a:pPr>
              <a:lnSpc>
                <a:spcPct val="100000"/>
              </a:lnSpc>
            </a:pPr>
            <a:r>
              <a:rPr lang="en-US" sz="1700" dirty="0"/>
              <a:t>PCA separation: PC1 12% variance—robust signatures</a:t>
            </a:r>
          </a:p>
          <a:p>
            <a:pPr lvl="1">
              <a:lnSpc>
                <a:spcPct val="100000"/>
              </a:lnSpc>
            </a:pPr>
            <a:r>
              <a:rPr lang="en-US" sz="1700" dirty="0"/>
              <a:t>Clear clustering confirms KRAS drives distinct transcriptional program independent of tissue type</a:t>
            </a:r>
          </a:p>
          <a:p>
            <a:pPr>
              <a:lnSpc>
                <a:spcPct val="100000"/>
              </a:lnSpc>
            </a:pPr>
            <a:r>
              <a:rPr lang="en-US" sz="1700" dirty="0"/>
              <a:t>Stable program: Top 50 genes coordinated across replicates</a:t>
            </a:r>
          </a:p>
          <a:p>
            <a:pPr lvl="1">
              <a:lnSpc>
                <a:spcPct val="100000"/>
              </a:lnSpc>
            </a:pPr>
            <a:r>
              <a:rPr lang="en-US" sz="1700" dirty="0"/>
              <a:t>Consistent upregulation pattern validates repeatable resistance mechanism</a:t>
            </a:r>
          </a:p>
        </p:txBody>
      </p:sp>
      <p:pic>
        <p:nvPicPr>
          <p:cNvPr id="5" name="Picture 4" descr="A screenshot of a graph&#10;&#10;AI-generated content may be incorrect.">
            <a:extLst>
              <a:ext uri="{FF2B5EF4-FFF2-40B4-BE49-F238E27FC236}">
                <a16:creationId xmlns:a16="http://schemas.microsoft.com/office/drawing/2014/main" id="{9A3694E3-37AA-7F9B-FC2C-AD0314DAAC37}"/>
              </a:ext>
            </a:extLst>
          </p:cNvPr>
          <p:cNvPicPr>
            <a:picLocks noChangeAspect="1"/>
          </p:cNvPicPr>
          <p:nvPr/>
        </p:nvPicPr>
        <p:blipFill>
          <a:blip r:embed="rId4"/>
          <a:stretch>
            <a:fillRect/>
          </a:stretch>
        </p:blipFill>
        <p:spPr>
          <a:xfrm>
            <a:off x="6388130" y="1013547"/>
            <a:ext cx="5676977" cy="4982008"/>
          </a:xfrm>
          <a:prstGeom prst="rect">
            <a:avLst/>
          </a:prstGeom>
        </p:spPr>
      </p:pic>
    </p:spTree>
    <p:extLst>
      <p:ext uri="{BB962C8B-B14F-4D97-AF65-F5344CB8AC3E}">
        <p14:creationId xmlns:p14="http://schemas.microsoft.com/office/powerpoint/2010/main" val="979397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592DB257-3E16-4A3C-9E28-468282812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5989027"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5" name="Rectangle 14">
            <a:extLst>
              <a:ext uri="{FF2B5EF4-FFF2-40B4-BE49-F238E27FC236}">
                <a16:creationId xmlns:a16="http://schemas.microsoft.com/office/drawing/2014/main" id="{487685E6-1160-459B-8C70-301404C06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48" y="0"/>
            <a:ext cx="5989019"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94C9708-F6A4-4956-B261-A4A2C4DFE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45535657-FFD1-D7E2-5AAA-BFF483C87BE9}"/>
              </a:ext>
            </a:extLst>
          </p:cNvPr>
          <p:cNvSpPr>
            <a:spLocks noGrp="1"/>
          </p:cNvSpPr>
          <p:nvPr>
            <p:ph type="title"/>
          </p:nvPr>
        </p:nvSpPr>
        <p:spPr>
          <a:xfrm>
            <a:off x="6553200" y="586992"/>
            <a:ext cx="4953000" cy="1664573"/>
          </a:xfrm>
        </p:spPr>
        <p:txBody>
          <a:bodyPr>
            <a:normAutofit/>
          </a:bodyPr>
          <a:lstStyle/>
          <a:p>
            <a:r>
              <a:rPr lang="en-US" sz="3700">
                <a:solidFill>
                  <a:schemeClr val="tx2"/>
                </a:solidFill>
              </a:rPr>
              <a:t>Phosphoproteomics &amp; Lipidomics</a:t>
            </a:r>
          </a:p>
        </p:txBody>
      </p:sp>
      <p:pic>
        <p:nvPicPr>
          <p:cNvPr id="4" name="Picture 3" descr="A diagram of a cell membrane&#10;&#10;AI-generated content may be incorrect.">
            <a:extLst>
              <a:ext uri="{FF2B5EF4-FFF2-40B4-BE49-F238E27FC236}">
                <a16:creationId xmlns:a16="http://schemas.microsoft.com/office/drawing/2014/main" id="{FD4085DA-29CC-0BC5-C9C5-AF0BB46BC04D}"/>
              </a:ext>
            </a:extLst>
          </p:cNvPr>
          <p:cNvPicPr>
            <a:picLocks noChangeAspect="1"/>
          </p:cNvPicPr>
          <p:nvPr/>
        </p:nvPicPr>
        <p:blipFill>
          <a:blip r:embed="rId4"/>
          <a:srcRect b="10138"/>
          <a:stretch>
            <a:fillRect/>
          </a:stretch>
        </p:blipFill>
        <p:spPr>
          <a:xfrm>
            <a:off x="606552" y="1606034"/>
            <a:ext cx="4724400" cy="3353893"/>
          </a:xfrm>
          <a:prstGeom prst="rect">
            <a:avLst/>
          </a:prstGeom>
        </p:spPr>
      </p:pic>
      <p:sp>
        <p:nvSpPr>
          <p:cNvPr id="3" name="Content Placeholder 2">
            <a:extLst>
              <a:ext uri="{FF2B5EF4-FFF2-40B4-BE49-F238E27FC236}">
                <a16:creationId xmlns:a16="http://schemas.microsoft.com/office/drawing/2014/main" id="{C80511C6-18EF-A4CE-7B60-808B58381E54}"/>
              </a:ext>
            </a:extLst>
          </p:cNvPr>
          <p:cNvSpPr>
            <a:spLocks noGrp="1"/>
          </p:cNvSpPr>
          <p:nvPr>
            <p:ph idx="1"/>
          </p:nvPr>
        </p:nvSpPr>
        <p:spPr>
          <a:xfrm>
            <a:off x="6553200" y="2411653"/>
            <a:ext cx="4952681" cy="3728613"/>
          </a:xfrm>
        </p:spPr>
        <p:txBody>
          <a:bodyPr>
            <a:normAutofit/>
          </a:bodyPr>
          <a:lstStyle/>
          <a:p>
            <a:pPr>
              <a:lnSpc>
                <a:spcPct val="100000"/>
              </a:lnSpc>
            </a:pPr>
            <a:r>
              <a:rPr lang="en-US" sz="1400">
                <a:solidFill>
                  <a:schemeClr val="tx2"/>
                </a:solidFill>
              </a:rPr>
              <a:t>Phosphoproteomics: TMT kinase network; identify reactivated ERK1/2, PI3K/AKT</a:t>
            </a:r>
          </a:p>
          <a:p>
            <a:pPr lvl="1">
              <a:lnSpc>
                <a:spcPct val="100000"/>
              </a:lnSpc>
            </a:pPr>
            <a:r>
              <a:rPr lang="en-US" sz="1400">
                <a:solidFill>
                  <a:schemeClr val="tx2"/>
                </a:solidFill>
              </a:rPr>
              <a:t>Time-course experiments; KSEA identifies activated kinases; occur within hours (faster than transcriptomics)</a:t>
            </a:r>
          </a:p>
          <a:p>
            <a:pPr>
              <a:lnSpc>
                <a:spcPct val="100000"/>
              </a:lnSpc>
            </a:pPr>
            <a:r>
              <a:rPr lang="en-US" sz="1400">
                <a:solidFill>
                  <a:schemeClr val="tx2"/>
                </a:solidFill>
              </a:rPr>
              <a:t>Lipidomics: LC-MS/MS; measure GM3, SM4 glycosphingolipids</a:t>
            </a:r>
          </a:p>
          <a:p>
            <a:pPr lvl="1">
              <a:lnSpc>
                <a:spcPct val="100000"/>
              </a:lnSpc>
            </a:pPr>
            <a:r>
              <a:rPr lang="en-US" sz="1400">
                <a:solidFill>
                  <a:schemeClr val="tx2"/>
                </a:solidFill>
              </a:rPr>
              <a:t>Plasma membrane-enriched fractions; characterize lipids maintaining KRAS nanoclustering</a:t>
            </a:r>
          </a:p>
          <a:p>
            <a:pPr>
              <a:lnSpc>
                <a:spcPct val="100000"/>
              </a:lnSpc>
            </a:pPr>
            <a:r>
              <a:rPr lang="en-US" sz="1400">
                <a:solidFill>
                  <a:schemeClr val="tx2"/>
                </a:solidFill>
              </a:rPr>
              <a:t>Perturbations: Test FASN, UGCG inhibitors to sensitize resistance</a:t>
            </a:r>
          </a:p>
          <a:p>
            <a:pPr lvl="1">
              <a:lnSpc>
                <a:spcPct val="100000"/>
              </a:lnSpc>
            </a:pPr>
            <a:r>
              <a:rPr lang="en-US" sz="1400">
                <a:solidFill>
                  <a:schemeClr val="tx2"/>
                </a:solidFill>
              </a:rPr>
              <a:t>Functional validation of lipid synthesis as druggable target</a:t>
            </a:r>
          </a:p>
        </p:txBody>
      </p:sp>
      <p:sp>
        <p:nvSpPr>
          <p:cNvPr id="5" name="TextBox 4">
            <a:extLst>
              <a:ext uri="{FF2B5EF4-FFF2-40B4-BE49-F238E27FC236}">
                <a16:creationId xmlns:a16="http://schemas.microsoft.com/office/drawing/2014/main" id="{E0D4E232-0A73-0D2D-A9CB-7DF334C8DF31}"/>
              </a:ext>
            </a:extLst>
          </p:cNvPr>
          <p:cNvSpPr txBox="1"/>
          <p:nvPr/>
        </p:nvSpPr>
        <p:spPr>
          <a:xfrm>
            <a:off x="748146" y="1743784"/>
            <a:ext cx="1361210" cy="307777"/>
          </a:xfrm>
          <a:prstGeom prst="rect">
            <a:avLst/>
          </a:prstGeom>
          <a:solidFill>
            <a:schemeClr val="bg1">
              <a:hueOff val="0"/>
              <a:satOff val="0"/>
              <a:lumOff val="0"/>
            </a:schemeClr>
          </a:solidFill>
        </p:spPr>
        <p:txBody>
          <a:bodyPr wrap="square" rtlCol="0">
            <a:spAutoFit/>
          </a:bodyPr>
          <a:lstStyle/>
          <a:p>
            <a:pPr algn="ctr"/>
            <a:r>
              <a:rPr lang="en-US" sz="700" b="1" dirty="0">
                <a:latin typeface="Comic Sans MS" panose="030F0902030302020204" pitchFamily="66" charset="0"/>
              </a:rPr>
              <a:t>PHOSPHOPROTEOMICS</a:t>
            </a:r>
          </a:p>
          <a:p>
            <a:pPr algn="ctr"/>
            <a:r>
              <a:rPr lang="en-US" sz="700" b="1" dirty="0">
                <a:latin typeface="Comic Sans MS" panose="030F0902030302020204" pitchFamily="66" charset="0"/>
              </a:rPr>
              <a:t>STRATEGY</a:t>
            </a:r>
          </a:p>
        </p:txBody>
      </p:sp>
      <p:sp>
        <p:nvSpPr>
          <p:cNvPr id="7" name="TextBox 6">
            <a:extLst>
              <a:ext uri="{FF2B5EF4-FFF2-40B4-BE49-F238E27FC236}">
                <a16:creationId xmlns:a16="http://schemas.microsoft.com/office/drawing/2014/main" id="{EE143002-0166-28C4-83DF-97762C527926}"/>
              </a:ext>
            </a:extLst>
          </p:cNvPr>
          <p:cNvSpPr txBox="1"/>
          <p:nvPr/>
        </p:nvSpPr>
        <p:spPr>
          <a:xfrm>
            <a:off x="2371776" y="1743783"/>
            <a:ext cx="1300289" cy="307777"/>
          </a:xfrm>
          <a:prstGeom prst="rect">
            <a:avLst/>
          </a:prstGeom>
          <a:solidFill>
            <a:schemeClr val="bg1">
              <a:hueOff val="0"/>
              <a:satOff val="0"/>
              <a:lumOff val="0"/>
            </a:schemeClr>
          </a:solidFill>
        </p:spPr>
        <p:txBody>
          <a:bodyPr wrap="square" rtlCol="0">
            <a:spAutoFit/>
          </a:bodyPr>
          <a:lstStyle/>
          <a:p>
            <a:pPr algn="ctr"/>
            <a:r>
              <a:rPr lang="en-US" sz="700" b="1" dirty="0">
                <a:latin typeface="Comic Sans MS" panose="030F0902030302020204" pitchFamily="66" charset="0"/>
              </a:rPr>
              <a:t>LIPIDOMICS</a:t>
            </a:r>
          </a:p>
          <a:p>
            <a:pPr algn="ctr"/>
            <a:r>
              <a:rPr lang="en-US" sz="700" b="1" dirty="0">
                <a:latin typeface="Comic Sans MS" panose="030F0902030302020204" pitchFamily="66" charset="0"/>
              </a:rPr>
              <a:t>MEASUREMENT</a:t>
            </a:r>
          </a:p>
        </p:txBody>
      </p:sp>
      <p:sp>
        <p:nvSpPr>
          <p:cNvPr id="8" name="TextBox 7">
            <a:extLst>
              <a:ext uri="{FF2B5EF4-FFF2-40B4-BE49-F238E27FC236}">
                <a16:creationId xmlns:a16="http://schemas.microsoft.com/office/drawing/2014/main" id="{3490F86F-52A8-B138-77FE-0D8713769EDA}"/>
              </a:ext>
            </a:extLst>
          </p:cNvPr>
          <p:cNvSpPr txBox="1"/>
          <p:nvPr/>
        </p:nvSpPr>
        <p:spPr>
          <a:xfrm>
            <a:off x="3910557" y="1743783"/>
            <a:ext cx="1300289" cy="307777"/>
          </a:xfrm>
          <a:prstGeom prst="rect">
            <a:avLst/>
          </a:prstGeom>
          <a:solidFill>
            <a:schemeClr val="bg1">
              <a:hueOff val="0"/>
              <a:satOff val="0"/>
              <a:lumOff val="0"/>
            </a:schemeClr>
          </a:solidFill>
        </p:spPr>
        <p:txBody>
          <a:bodyPr wrap="square" rtlCol="0">
            <a:spAutoFit/>
          </a:bodyPr>
          <a:lstStyle/>
          <a:p>
            <a:pPr algn="ctr"/>
            <a:r>
              <a:rPr lang="en-US" sz="700" b="1" dirty="0">
                <a:latin typeface="Comic Sans MS" panose="030F0902030302020204" pitchFamily="66" charset="0"/>
              </a:rPr>
              <a:t>FUNCTIONAL</a:t>
            </a:r>
          </a:p>
          <a:p>
            <a:pPr algn="ctr"/>
            <a:r>
              <a:rPr lang="en-US" sz="700" b="1" dirty="0">
                <a:latin typeface="Comic Sans MS" panose="030F0902030302020204" pitchFamily="66" charset="0"/>
              </a:rPr>
              <a:t>PERTURBATIONS</a:t>
            </a:r>
          </a:p>
        </p:txBody>
      </p:sp>
      <p:sp>
        <p:nvSpPr>
          <p:cNvPr id="10" name="TextBox 9">
            <a:extLst>
              <a:ext uri="{FF2B5EF4-FFF2-40B4-BE49-F238E27FC236}">
                <a16:creationId xmlns:a16="http://schemas.microsoft.com/office/drawing/2014/main" id="{34656F9E-711A-DBAB-B8EB-B2A091946520}"/>
              </a:ext>
            </a:extLst>
          </p:cNvPr>
          <p:cNvSpPr txBox="1"/>
          <p:nvPr/>
        </p:nvSpPr>
        <p:spPr>
          <a:xfrm>
            <a:off x="1340430" y="4511477"/>
            <a:ext cx="800099" cy="323165"/>
          </a:xfrm>
          <a:prstGeom prst="rect">
            <a:avLst/>
          </a:prstGeom>
          <a:solidFill>
            <a:schemeClr val="bg1">
              <a:hueOff val="0"/>
              <a:satOff val="0"/>
              <a:lumOff val="0"/>
            </a:schemeClr>
          </a:solidFill>
        </p:spPr>
        <p:txBody>
          <a:bodyPr wrap="square" rtlCol="0">
            <a:spAutoFit/>
          </a:bodyPr>
          <a:lstStyle/>
          <a:p>
            <a:pPr algn="ctr"/>
            <a:r>
              <a:rPr lang="en-US" sz="500" b="1" dirty="0">
                <a:latin typeface="Comic Sans MS" panose="030F0902030302020204" pitchFamily="66" charset="0"/>
              </a:rPr>
              <a:t>KSEA IDENTIFIES ACTIVATED KINASES</a:t>
            </a:r>
          </a:p>
        </p:txBody>
      </p:sp>
      <p:sp>
        <p:nvSpPr>
          <p:cNvPr id="12" name="TextBox 11">
            <a:extLst>
              <a:ext uri="{FF2B5EF4-FFF2-40B4-BE49-F238E27FC236}">
                <a16:creationId xmlns:a16="http://schemas.microsoft.com/office/drawing/2014/main" id="{52C2C975-313B-3855-6AAA-F554ADA2AE9A}"/>
              </a:ext>
            </a:extLst>
          </p:cNvPr>
          <p:cNvSpPr txBox="1"/>
          <p:nvPr/>
        </p:nvSpPr>
        <p:spPr>
          <a:xfrm>
            <a:off x="3941731" y="4570214"/>
            <a:ext cx="1269116" cy="246221"/>
          </a:xfrm>
          <a:prstGeom prst="rect">
            <a:avLst/>
          </a:prstGeom>
          <a:solidFill>
            <a:schemeClr val="bg1">
              <a:hueOff val="0"/>
              <a:satOff val="0"/>
              <a:lumOff val="0"/>
            </a:schemeClr>
          </a:solidFill>
        </p:spPr>
        <p:txBody>
          <a:bodyPr wrap="square" rtlCol="0">
            <a:spAutoFit/>
          </a:bodyPr>
          <a:lstStyle/>
          <a:p>
            <a:pPr algn="ctr"/>
            <a:r>
              <a:rPr lang="en-US" sz="500" b="1" dirty="0">
                <a:latin typeface="Comic Sans MS" panose="030F0902030302020204" pitchFamily="66" charset="0"/>
              </a:rPr>
              <a:t>SENSITIZE RESISTANCE AND VALIDATE DRUGGABILITY</a:t>
            </a:r>
          </a:p>
        </p:txBody>
      </p:sp>
    </p:spTree>
    <p:extLst>
      <p:ext uri="{BB962C8B-B14F-4D97-AF65-F5344CB8AC3E}">
        <p14:creationId xmlns:p14="http://schemas.microsoft.com/office/powerpoint/2010/main" val="1785449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094C9708-F6A4-4956-B261-A4A2C4DFE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5" name="Rectangle 14">
            <a:extLst>
              <a:ext uri="{FF2B5EF4-FFF2-40B4-BE49-F238E27FC236}">
                <a16:creationId xmlns:a16="http://schemas.microsoft.com/office/drawing/2014/main" id="{592DB257-3E16-4A3C-9E28-468282812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50"/>
            <a:ext cx="6254652"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7" name="Rectangle 16">
            <a:extLst>
              <a:ext uri="{FF2B5EF4-FFF2-40B4-BE49-F238E27FC236}">
                <a16:creationId xmlns:a16="http://schemas.microsoft.com/office/drawing/2014/main" id="{487685E6-1160-459B-8C70-301404C06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048" y="0"/>
            <a:ext cx="6251447"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24A7169-D128-7166-91D0-04070E712D19}"/>
              </a:ext>
            </a:extLst>
          </p:cNvPr>
          <p:cNvSpPr>
            <a:spLocks noGrp="1"/>
          </p:cNvSpPr>
          <p:nvPr>
            <p:ph type="title"/>
          </p:nvPr>
        </p:nvSpPr>
        <p:spPr>
          <a:xfrm>
            <a:off x="838200" y="586992"/>
            <a:ext cx="4953000" cy="1664573"/>
          </a:xfrm>
        </p:spPr>
        <p:txBody>
          <a:bodyPr>
            <a:normAutofit/>
          </a:bodyPr>
          <a:lstStyle/>
          <a:p>
            <a:pPr>
              <a:lnSpc>
                <a:spcPct val="90000"/>
              </a:lnSpc>
            </a:pPr>
            <a:r>
              <a:rPr lang="en-US" sz="3700"/>
              <a:t>Lipid Remodeling Creates Vulnerability</a:t>
            </a:r>
          </a:p>
        </p:txBody>
      </p:sp>
      <p:sp>
        <p:nvSpPr>
          <p:cNvPr id="3" name="Content Placeholder 2">
            <a:extLst>
              <a:ext uri="{FF2B5EF4-FFF2-40B4-BE49-F238E27FC236}">
                <a16:creationId xmlns:a16="http://schemas.microsoft.com/office/drawing/2014/main" id="{E1B231F1-DFD9-F519-44BC-52B86F9E0355}"/>
              </a:ext>
            </a:extLst>
          </p:cNvPr>
          <p:cNvSpPr>
            <a:spLocks noGrp="1"/>
          </p:cNvSpPr>
          <p:nvPr>
            <p:ph idx="1"/>
          </p:nvPr>
        </p:nvSpPr>
        <p:spPr>
          <a:xfrm>
            <a:off x="838200" y="2411653"/>
            <a:ext cx="4952681" cy="3728613"/>
          </a:xfrm>
        </p:spPr>
        <p:txBody>
          <a:bodyPr>
            <a:normAutofit/>
          </a:bodyPr>
          <a:lstStyle/>
          <a:p>
            <a:pPr>
              <a:lnSpc>
                <a:spcPct val="100000"/>
              </a:lnSpc>
            </a:pPr>
            <a:r>
              <a:rPr lang="en-US" sz="2000" dirty="0"/>
              <a:t>KRAS G12V: 17% PC increase; 56% </a:t>
            </a:r>
            <a:r>
              <a:rPr lang="en-US" sz="2000" dirty="0" err="1"/>
              <a:t>hexosylceramide</a:t>
            </a:r>
            <a:r>
              <a:rPr lang="en-US" sz="2000" dirty="0"/>
              <a:t> decrease</a:t>
            </a:r>
          </a:p>
          <a:p>
            <a:pPr lvl="1">
              <a:lnSpc>
                <a:spcPct val="100000"/>
              </a:lnSpc>
            </a:pPr>
            <a:r>
              <a:rPr lang="en-US" sz="1200" dirty="0"/>
              <a:t>Indicates rapid flux through glycosphingolipid biosynthesis pathway</a:t>
            </a:r>
          </a:p>
          <a:p>
            <a:pPr>
              <a:lnSpc>
                <a:spcPct val="100000"/>
              </a:lnSpc>
            </a:pPr>
            <a:r>
              <a:rPr lang="en-US" sz="2000" dirty="0"/>
              <a:t>Rapid flux through glycosphingolipid pathway</a:t>
            </a:r>
          </a:p>
          <a:p>
            <a:pPr lvl="1">
              <a:lnSpc>
                <a:spcPct val="100000"/>
              </a:lnSpc>
            </a:pPr>
            <a:r>
              <a:rPr lang="en-US" sz="1200" dirty="0"/>
              <a:t>Ceramides converted to GM3 &amp; SM4 (membrane-anchoring lipids) rather than stored as </a:t>
            </a:r>
            <a:r>
              <a:rPr lang="en-US" sz="1200" dirty="0" err="1"/>
              <a:t>hexosylceramides</a:t>
            </a:r>
            <a:endParaRPr lang="en-US" sz="1200" dirty="0"/>
          </a:p>
          <a:p>
            <a:pPr>
              <a:lnSpc>
                <a:spcPct val="100000"/>
              </a:lnSpc>
            </a:pPr>
            <a:r>
              <a:rPr lang="en-US" sz="2000" dirty="0"/>
              <a:t>UGCG inhibition exploitable in non-G12C patients</a:t>
            </a:r>
          </a:p>
          <a:p>
            <a:pPr lvl="1">
              <a:lnSpc>
                <a:spcPct val="100000"/>
              </a:lnSpc>
            </a:pPr>
            <a:r>
              <a:rPr lang="en-US" sz="1200" dirty="0"/>
              <a:t>Blocks glycosphingolipid synthesis; mutation-agnostic strategy for 85% of KRAS patients</a:t>
            </a:r>
          </a:p>
        </p:txBody>
      </p:sp>
      <p:pic>
        <p:nvPicPr>
          <p:cNvPr id="5" name="Picture 4" descr="A screenshot of a graph&#10;&#10;AI-generated content may be incorrect.">
            <a:extLst>
              <a:ext uri="{FF2B5EF4-FFF2-40B4-BE49-F238E27FC236}">
                <a16:creationId xmlns:a16="http://schemas.microsoft.com/office/drawing/2014/main" id="{54049359-6F76-188B-6CED-20E30EF6A75A}"/>
              </a:ext>
            </a:extLst>
          </p:cNvPr>
          <p:cNvPicPr>
            <a:picLocks noChangeAspect="1"/>
          </p:cNvPicPr>
          <p:nvPr/>
        </p:nvPicPr>
        <p:blipFill>
          <a:blip r:embed="rId4"/>
          <a:stretch>
            <a:fillRect/>
          </a:stretch>
        </p:blipFill>
        <p:spPr>
          <a:xfrm>
            <a:off x="6626033" y="755072"/>
            <a:ext cx="5331769" cy="5679115"/>
          </a:xfrm>
          <a:prstGeom prst="rect">
            <a:avLst/>
          </a:prstGeom>
        </p:spPr>
      </p:pic>
    </p:spTree>
    <p:extLst>
      <p:ext uri="{BB962C8B-B14F-4D97-AF65-F5344CB8AC3E}">
        <p14:creationId xmlns:p14="http://schemas.microsoft.com/office/powerpoint/2010/main" val="2696674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592DB257-3E16-4A3C-9E28-468282812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5989027"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5" name="Rectangle 14">
            <a:extLst>
              <a:ext uri="{FF2B5EF4-FFF2-40B4-BE49-F238E27FC236}">
                <a16:creationId xmlns:a16="http://schemas.microsoft.com/office/drawing/2014/main" id="{487685E6-1160-459B-8C70-301404C06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48" y="0"/>
            <a:ext cx="5989019"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94C9708-F6A4-4956-B261-A4A2C4DFE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30CB6FF8-1EF5-95C2-0EE1-18A159BAE8CD}"/>
              </a:ext>
            </a:extLst>
          </p:cNvPr>
          <p:cNvSpPr>
            <a:spLocks noGrp="1"/>
          </p:cNvSpPr>
          <p:nvPr>
            <p:ph type="title"/>
          </p:nvPr>
        </p:nvSpPr>
        <p:spPr>
          <a:xfrm>
            <a:off x="6553200" y="586992"/>
            <a:ext cx="4953000" cy="1664573"/>
          </a:xfrm>
        </p:spPr>
        <p:txBody>
          <a:bodyPr>
            <a:normAutofit/>
          </a:bodyPr>
          <a:lstStyle/>
          <a:p>
            <a:pPr>
              <a:lnSpc>
                <a:spcPct val="90000"/>
              </a:lnSpc>
            </a:pPr>
            <a:r>
              <a:rPr lang="en-US" sz="3700">
                <a:solidFill>
                  <a:schemeClr val="tx2"/>
                </a:solidFill>
              </a:rPr>
              <a:t>Epigenomics—Chromatin Plasticity</a:t>
            </a:r>
          </a:p>
        </p:txBody>
      </p:sp>
      <p:pic>
        <p:nvPicPr>
          <p:cNvPr id="4" name="Picture 3">
            <a:extLst>
              <a:ext uri="{FF2B5EF4-FFF2-40B4-BE49-F238E27FC236}">
                <a16:creationId xmlns:a16="http://schemas.microsoft.com/office/drawing/2014/main" id="{96AE024D-E828-0273-F2C8-9C82BB1DA1A5}"/>
              </a:ext>
            </a:extLst>
          </p:cNvPr>
          <p:cNvPicPr>
            <a:picLocks noChangeAspect="1"/>
          </p:cNvPicPr>
          <p:nvPr/>
        </p:nvPicPr>
        <p:blipFill>
          <a:blip r:embed="rId4"/>
          <a:srcRect b="9609"/>
          <a:stretch>
            <a:fillRect/>
          </a:stretch>
        </p:blipFill>
        <p:spPr>
          <a:xfrm>
            <a:off x="606552" y="1476113"/>
            <a:ext cx="4724400" cy="3608505"/>
          </a:xfrm>
          <a:prstGeom prst="rect">
            <a:avLst/>
          </a:prstGeom>
        </p:spPr>
      </p:pic>
      <p:sp>
        <p:nvSpPr>
          <p:cNvPr id="3" name="Content Placeholder 2">
            <a:extLst>
              <a:ext uri="{FF2B5EF4-FFF2-40B4-BE49-F238E27FC236}">
                <a16:creationId xmlns:a16="http://schemas.microsoft.com/office/drawing/2014/main" id="{1F7571B5-95A5-1192-A523-0480CB5444FF}"/>
              </a:ext>
            </a:extLst>
          </p:cNvPr>
          <p:cNvSpPr>
            <a:spLocks noGrp="1"/>
          </p:cNvSpPr>
          <p:nvPr>
            <p:ph idx="1"/>
          </p:nvPr>
        </p:nvSpPr>
        <p:spPr>
          <a:xfrm>
            <a:off x="6553200" y="2411653"/>
            <a:ext cx="4952681" cy="3728613"/>
          </a:xfrm>
        </p:spPr>
        <p:txBody>
          <a:bodyPr>
            <a:normAutofit/>
          </a:bodyPr>
          <a:lstStyle/>
          <a:p>
            <a:pPr>
              <a:lnSpc>
                <a:spcPct val="100000"/>
              </a:lnSpc>
            </a:pPr>
            <a:r>
              <a:rPr lang="en-US" sz="1400" dirty="0">
                <a:solidFill>
                  <a:schemeClr val="tx2"/>
                </a:solidFill>
              </a:rPr>
              <a:t>ATAC-seq + </a:t>
            </a:r>
            <a:r>
              <a:rPr lang="en-US" sz="1400" dirty="0" err="1">
                <a:solidFill>
                  <a:schemeClr val="tx2"/>
                </a:solidFill>
              </a:rPr>
              <a:t>ChIP</a:t>
            </a:r>
            <a:r>
              <a:rPr lang="en-US" sz="1400" dirty="0">
                <a:solidFill>
                  <a:schemeClr val="tx2"/>
                </a:solidFill>
              </a:rPr>
              <a:t>-seq: map chromatin accessibility &amp; H3K27ac</a:t>
            </a:r>
          </a:p>
          <a:p>
            <a:pPr lvl="1">
              <a:lnSpc>
                <a:spcPct val="100000"/>
              </a:lnSpc>
            </a:pPr>
            <a:r>
              <a:rPr lang="en-US" sz="1400" dirty="0">
                <a:solidFill>
                  <a:schemeClr val="tx2"/>
                </a:solidFill>
              </a:rPr>
              <a:t>Identify regions gaining accessibility during resistance; profile active enhancers/promoters</a:t>
            </a:r>
          </a:p>
          <a:p>
            <a:pPr>
              <a:lnSpc>
                <a:spcPct val="100000"/>
              </a:lnSpc>
            </a:pPr>
            <a:r>
              <a:rPr lang="en-US" sz="1400" dirty="0">
                <a:solidFill>
                  <a:schemeClr val="tx2"/>
                </a:solidFill>
              </a:rPr>
              <a:t>Identify resistance-associated enhancers &amp; transcription factors</a:t>
            </a:r>
          </a:p>
          <a:p>
            <a:pPr lvl="1">
              <a:lnSpc>
                <a:spcPct val="100000"/>
              </a:lnSpc>
            </a:pPr>
            <a:r>
              <a:rPr lang="en-US" sz="1400" dirty="0">
                <a:solidFill>
                  <a:schemeClr val="tx2"/>
                </a:solidFill>
              </a:rPr>
              <a:t>Motif enrichment nominates TFs driving resistance; overlay with transcriptomics to link chromatin to function</a:t>
            </a:r>
          </a:p>
          <a:p>
            <a:pPr>
              <a:lnSpc>
                <a:spcPct val="100000"/>
              </a:lnSpc>
            </a:pPr>
            <a:r>
              <a:rPr lang="en-US" sz="1400" dirty="0">
                <a:solidFill>
                  <a:schemeClr val="tx2"/>
                </a:solidFill>
              </a:rPr>
              <a:t>Nominate HATs, BET protein inhibitors for combinations</a:t>
            </a:r>
          </a:p>
          <a:p>
            <a:pPr lvl="1">
              <a:lnSpc>
                <a:spcPct val="100000"/>
              </a:lnSpc>
            </a:pPr>
            <a:r>
              <a:rPr lang="en-US" sz="1400" dirty="0">
                <a:solidFill>
                  <a:schemeClr val="tx2"/>
                </a:solidFill>
              </a:rPr>
              <a:t>Epigenetic regulators enable rapid adaptation without mutations; targeting them reverses resistance</a:t>
            </a:r>
          </a:p>
        </p:txBody>
      </p:sp>
      <p:sp>
        <p:nvSpPr>
          <p:cNvPr id="6" name="TextBox 5">
            <a:extLst>
              <a:ext uri="{FF2B5EF4-FFF2-40B4-BE49-F238E27FC236}">
                <a16:creationId xmlns:a16="http://schemas.microsoft.com/office/drawing/2014/main" id="{9038848A-234A-55C0-D3F9-3C8BE5F87063}"/>
              </a:ext>
            </a:extLst>
          </p:cNvPr>
          <p:cNvSpPr txBox="1"/>
          <p:nvPr/>
        </p:nvSpPr>
        <p:spPr>
          <a:xfrm>
            <a:off x="779317" y="1671047"/>
            <a:ext cx="1350819" cy="461665"/>
          </a:xfrm>
          <a:prstGeom prst="rect">
            <a:avLst/>
          </a:prstGeom>
          <a:solidFill>
            <a:schemeClr val="bg1">
              <a:hueOff val="0"/>
              <a:satOff val="0"/>
              <a:lumOff val="0"/>
            </a:schemeClr>
          </a:solidFill>
        </p:spPr>
        <p:txBody>
          <a:bodyPr wrap="square" rtlCol="0">
            <a:spAutoFit/>
          </a:bodyPr>
          <a:lstStyle/>
          <a:p>
            <a:pPr algn="ctr"/>
            <a:r>
              <a:rPr lang="en-US" sz="800" b="1" dirty="0">
                <a:latin typeface="Comic Sans MS" panose="030F0902030302020204" pitchFamily="66" charset="0"/>
              </a:rPr>
              <a:t>CHROMATIN</a:t>
            </a:r>
          </a:p>
          <a:p>
            <a:pPr algn="ctr"/>
            <a:r>
              <a:rPr lang="en-US" sz="800" b="1" dirty="0">
                <a:latin typeface="Comic Sans MS" panose="030F0902030302020204" pitchFamily="66" charset="0"/>
              </a:rPr>
              <a:t>ACCESIBILITY</a:t>
            </a:r>
          </a:p>
          <a:p>
            <a:pPr algn="ctr"/>
            <a:r>
              <a:rPr lang="en-US" sz="800" b="1" dirty="0">
                <a:latin typeface="Comic Sans MS" panose="030F0902030302020204" pitchFamily="66" charset="0"/>
              </a:rPr>
              <a:t>MAPPING</a:t>
            </a:r>
          </a:p>
        </p:txBody>
      </p:sp>
      <p:sp>
        <p:nvSpPr>
          <p:cNvPr id="7" name="TextBox 6">
            <a:extLst>
              <a:ext uri="{FF2B5EF4-FFF2-40B4-BE49-F238E27FC236}">
                <a16:creationId xmlns:a16="http://schemas.microsoft.com/office/drawing/2014/main" id="{B83B4294-8CAF-3E15-DCB8-7D08E06AD944}"/>
              </a:ext>
            </a:extLst>
          </p:cNvPr>
          <p:cNvSpPr txBox="1"/>
          <p:nvPr/>
        </p:nvSpPr>
        <p:spPr>
          <a:xfrm>
            <a:off x="2293342" y="1671047"/>
            <a:ext cx="1350819" cy="507831"/>
          </a:xfrm>
          <a:prstGeom prst="rect">
            <a:avLst/>
          </a:prstGeom>
          <a:solidFill>
            <a:schemeClr val="bg1">
              <a:hueOff val="0"/>
              <a:satOff val="0"/>
              <a:lumOff val="0"/>
            </a:schemeClr>
          </a:solidFill>
        </p:spPr>
        <p:txBody>
          <a:bodyPr wrap="square" rtlCol="0">
            <a:spAutoFit/>
          </a:bodyPr>
          <a:lstStyle/>
          <a:p>
            <a:pPr algn="ctr"/>
            <a:r>
              <a:rPr lang="en-US" sz="900" b="1" dirty="0">
                <a:latin typeface="Comic Sans MS" panose="030F0902030302020204" pitchFamily="66" charset="0"/>
              </a:rPr>
              <a:t>HISTONE</a:t>
            </a:r>
          </a:p>
          <a:p>
            <a:pPr algn="ctr"/>
            <a:r>
              <a:rPr lang="en-US" sz="900" b="1" dirty="0">
                <a:latin typeface="Comic Sans MS" panose="030F0902030302020204" pitchFamily="66" charset="0"/>
              </a:rPr>
              <a:t>MODIFICATION</a:t>
            </a:r>
            <a:br>
              <a:rPr lang="en-US" sz="900" b="1" dirty="0">
                <a:latin typeface="Comic Sans MS" panose="030F0902030302020204" pitchFamily="66" charset="0"/>
              </a:rPr>
            </a:br>
            <a:r>
              <a:rPr lang="en-US" sz="900" b="1" dirty="0">
                <a:latin typeface="Comic Sans MS" panose="030F0902030302020204" pitchFamily="66" charset="0"/>
              </a:rPr>
              <a:t>PROFILING</a:t>
            </a:r>
          </a:p>
        </p:txBody>
      </p:sp>
      <p:sp>
        <p:nvSpPr>
          <p:cNvPr id="16" name="TextBox 15">
            <a:extLst>
              <a:ext uri="{FF2B5EF4-FFF2-40B4-BE49-F238E27FC236}">
                <a16:creationId xmlns:a16="http://schemas.microsoft.com/office/drawing/2014/main" id="{50C839E7-A4ED-A1E0-9300-D2DCDFF67220}"/>
              </a:ext>
            </a:extLst>
          </p:cNvPr>
          <p:cNvSpPr txBox="1"/>
          <p:nvPr/>
        </p:nvSpPr>
        <p:spPr>
          <a:xfrm>
            <a:off x="3816926" y="1647963"/>
            <a:ext cx="1350819" cy="507831"/>
          </a:xfrm>
          <a:prstGeom prst="rect">
            <a:avLst/>
          </a:prstGeom>
          <a:solidFill>
            <a:schemeClr val="bg1">
              <a:hueOff val="0"/>
              <a:satOff val="0"/>
              <a:lumOff val="0"/>
            </a:schemeClr>
          </a:solidFill>
        </p:spPr>
        <p:txBody>
          <a:bodyPr wrap="square" rtlCol="0">
            <a:spAutoFit/>
          </a:bodyPr>
          <a:lstStyle/>
          <a:p>
            <a:pPr algn="ctr"/>
            <a:r>
              <a:rPr lang="en-US" sz="900" b="1" dirty="0">
                <a:latin typeface="Comic Sans MS" panose="030F0902030302020204" pitchFamily="66" charset="0"/>
              </a:rPr>
              <a:t>TRANSCRIPTION</a:t>
            </a:r>
          </a:p>
          <a:p>
            <a:pPr algn="ctr"/>
            <a:r>
              <a:rPr lang="en-US" sz="900" b="1" dirty="0">
                <a:latin typeface="Comic Sans MS" panose="030F0902030302020204" pitchFamily="66" charset="0"/>
              </a:rPr>
              <a:t>FACTOR</a:t>
            </a:r>
          </a:p>
          <a:p>
            <a:pPr algn="ctr"/>
            <a:r>
              <a:rPr lang="en-US" sz="900" b="1" dirty="0">
                <a:latin typeface="Comic Sans MS" panose="030F0902030302020204" pitchFamily="66" charset="0"/>
              </a:rPr>
              <a:t>NOMINATION</a:t>
            </a:r>
          </a:p>
        </p:txBody>
      </p:sp>
      <p:sp>
        <p:nvSpPr>
          <p:cNvPr id="18" name="TextBox 17">
            <a:extLst>
              <a:ext uri="{FF2B5EF4-FFF2-40B4-BE49-F238E27FC236}">
                <a16:creationId xmlns:a16="http://schemas.microsoft.com/office/drawing/2014/main" id="{AA0E1A64-B616-9FA6-1E10-DEC0122466F7}"/>
              </a:ext>
            </a:extLst>
          </p:cNvPr>
          <p:cNvSpPr txBox="1"/>
          <p:nvPr/>
        </p:nvSpPr>
        <p:spPr>
          <a:xfrm>
            <a:off x="4003964" y="4275961"/>
            <a:ext cx="997527" cy="246221"/>
          </a:xfrm>
          <a:prstGeom prst="rect">
            <a:avLst/>
          </a:prstGeom>
          <a:solidFill>
            <a:schemeClr val="bg1">
              <a:hueOff val="0"/>
              <a:satOff val="0"/>
              <a:lumOff val="0"/>
            </a:schemeClr>
          </a:solidFill>
        </p:spPr>
        <p:txBody>
          <a:bodyPr wrap="square" rtlCol="0">
            <a:spAutoFit/>
          </a:bodyPr>
          <a:lstStyle/>
          <a:p>
            <a:pPr algn="ctr"/>
            <a:r>
              <a:rPr lang="en-US" sz="500" b="1" dirty="0">
                <a:latin typeface="Comic Sans MS" panose="030F0902030302020204" pitchFamily="66" charset="0"/>
              </a:rPr>
              <a:t>DRUGGABLE EPIGENETIC</a:t>
            </a:r>
          </a:p>
          <a:p>
            <a:pPr algn="ctr"/>
            <a:r>
              <a:rPr lang="en-US" sz="500" b="1" dirty="0">
                <a:latin typeface="Comic Sans MS" panose="030F0902030302020204" pitchFamily="66" charset="0"/>
              </a:rPr>
              <a:t>REGULATORS</a:t>
            </a:r>
          </a:p>
        </p:txBody>
      </p:sp>
    </p:spTree>
    <p:extLst>
      <p:ext uri="{BB962C8B-B14F-4D97-AF65-F5344CB8AC3E}">
        <p14:creationId xmlns:p14="http://schemas.microsoft.com/office/powerpoint/2010/main" val="1815474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592DB257-3E16-4A3C-9E28-468282812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5989027"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5" name="Rectangle 14">
            <a:extLst>
              <a:ext uri="{FF2B5EF4-FFF2-40B4-BE49-F238E27FC236}">
                <a16:creationId xmlns:a16="http://schemas.microsoft.com/office/drawing/2014/main" id="{487685E6-1160-459B-8C70-301404C06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48" y="0"/>
            <a:ext cx="5989019"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94C9708-F6A4-4956-B261-A4A2C4DFE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682D354D-C3B8-3401-F744-0AD0E0A4A3C4}"/>
              </a:ext>
            </a:extLst>
          </p:cNvPr>
          <p:cNvSpPr>
            <a:spLocks noGrp="1"/>
          </p:cNvSpPr>
          <p:nvPr>
            <p:ph type="title"/>
          </p:nvPr>
        </p:nvSpPr>
        <p:spPr>
          <a:xfrm>
            <a:off x="6553200" y="586992"/>
            <a:ext cx="4953000" cy="1664573"/>
          </a:xfrm>
        </p:spPr>
        <p:txBody>
          <a:bodyPr>
            <a:normAutofit/>
          </a:bodyPr>
          <a:lstStyle/>
          <a:p>
            <a:r>
              <a:rPr lang="en-US">
                <a:solidFill>
                  <a:schemeClr val="tx2"/>
                </a:solidFill>
              </a:rPr>
              <a:t>Expected Outcomes</a:t>
            </a:r>
          </a:p>
        </p:txBody>
      </p:sp>
      <p:pic>
        <p:nvPicPr>
          <p:cNvPr id="4" name="Picture 4" descr="Bioinformatics Cartoon">
            <a:extLst>
              <a:ext uri="{FF2B5EF4-FFF2-40B4-BE49-F238E27FC236}">
                <a16:creationId xmlns:a16="http://schemas.microsoft.com/office/drawing/2014/main" id="{49E6824A-34F8-48FF-3EB9-1C9F50C692F1}"/>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03909" y="1369256"/>
            <a:ext cx="5766220" cy="423265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486B0E12-0C8C-2D22-7D8F-E389B61AF875}"/>
              </a:ext>
            </a:extLst>
          </p:cNvPr>
          <p:cNvSpPr>
            <a:spLocks noGrp="1"/>
          </p:cNvSpPr>
          <p:nvPr>
            <p:ph idx="1"/>
          </p:nvPr>
        </p:nvSpPr>
        <p:spPr>
          <a:xfrm>
            <a:off x="6553200" y="2411653"/>
            <a:ext cx="4952681" cy="3728613"/>
          </a:xfrm>
        </p:spPr>
        <p:txBody>
          <a:bodyPr>
            <a:normAutofit/>
          </a:bodyPr>
          <a:lstStyle/>
          <a:p>
            <a:pPr>
              <a:lnSpc>
                <a:spcPct val="100000"/>
              </a:lnSpc>
            </a:pPr>
            <a:r>
              <a:rPr lang="en-US" sz="1500">
                <a:solidFill>
                  <a:schemeClr val="tx2"/>
                </a:solidFill>
              </a:rPr>
              <a:t>Biomarker panels for early resistance detection</a:t>
            </a:r>
          </a:p>
          <a:p>
            <a:pPr lvl="1">
              <a:lnSpc>
                <a:spcPct val="100000"/>
              </a:lnSpc>
            </a:pPr>
            <a:r>
              <a:rPr lang="en-US" sz="1500">
                <a:solidFill>
                  <a:schemeClr val="tx2"/>
                </a:solidFill>
              </a:rPr>
              <a:t>Multi-omics signatures enable personalized intervention timing before clinical progression</a:t>
            </a:r>
          </a:p>
          <a:p>
            <a:pPr>
              <a:lnSpc>
                <a:spcPct val="100000"/>
              </a:lnSpc>
            </a:pPr>
            <a:r>
              <a:rPr lang="en-US" sz="1500">
                <a:solidFill>
                  <a:schemeClr val="tx2"/>
                </a:solidFill>
              </a:rPr>
              <a:t>Combination strategies targeting 4 resistance layers</a:t>
            </a:r>
          </a:p>
          <a:p>
            <a:pPr lvl="1">
              <a:lnSpc>
                <a:spcPct val="100000"/>
              </a:lnSpc>
            </a:pPr>
            <a:r>
              <a:rPr lang="en-US" sz="1500">
                <a:solidFill>
                  <a:schemeClr val="tx2"/>
                </a:solidFill>
              </a:rPr>
              <a:t>Rational multi-node targeting: KRAS inhibitors + MEK + PI3K/AKT + lipid inhibitors + epigenetic drugs</a:t>
            </a:r>
          </a:p>
          <a:p>
            <a:pPr>
              <a:lnSpc>
                <a:spcPct val="100000"/>
              </a:lnSpc>
            </a:pPr>
            <a:r>
              <a:rPr lang="en-US" sz="1500">
                <a:solidFill>
                  <a:schemeClr val="tx2"/>
                </a:solidFill>
              </a:rPr>
              <a:t>Therapeutic options for 85% non-G12C patients</a:t>
            </a:r>
          </a:p>
          <a:p>
            <a:pPr lvl="1">
              <a:lnSpc>
                <a:spcPct val="100000"/>
              </a:lnSpc>
            </a:pPr>
            <a:r>
              <a:rPr lang="en-US" sz="1500">
                <a:solidFill>
                  <a:schemeClr val="tx2"/>
                </a:solidFill>
              </a:rPr>
              <a:t>Mutation-specific vulnerabilities create actionable targets independent of direct KRAS inhibition</a:t>
            </a:r>
          </a:p>
        </p:txBody>
      </p:sp>
    </p:spTree>
    <p:extLst>
      <p:ext uri="{BB962C8B-B14F-4D97-AF65-F5344CB8AC3E}">
        <p14:creationId xmlns:p14="http://schemas.microsoft.com/office/powerpoint/2010/main" val="1947411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CC0A522-8E6A-557A-2FAA-52BDFE06AF95}"/>
              </a:ext>
            </a:extLst>
          </p:cNvPr>
          <p:cNvSpPr>
            <a:spLocks noGrp="1"/>
          </p:cNvSpPr>
          <p:nvPr>
            <p:ph type="title"/>
          </p:nvPr>
        </p:nvSpPr>
        <p:spPr>
          <a:xfrm>
            <a:off x="301337" y="559813"/>
            <a:ext cx="3958936" cy="5577934"/>
          </a:xfrm>
        </p:spPr>
        <p:txBody>
          <a:bodyPr>
            <a:normAutofit/>
          </a:bodyPr>
          <a:lstStyle/>
          <a:p>
            <a:r>
              <a:rPr lang="en-US" dirty="0"/>
              <a:t>TIMELINE, BUDGET &amp; RESEARCH STRATEGY</a:t>
            </a:r>
          </a:p>
        </p:txBody>
      </p:sp>
      <p:graphicFrame>
        <p:nvGraphicFramePr>
          <p:cNvPr id="5" name="Content Placeholder 2">
            <a:extLst>
              <a:ext uri="{FF2B5EF4-FFF2-40B4-BE49-F238E27FC236}">
                <a16:creationId xmlns:a16="http://schemas.microsoft.com/office/drawing/2014/main" id="{89E36750-EA51-DC7A-22D5-9D412916120A}"/>
              </a:ext>
            </a:extLst>
          </p:cNvPr>
          <p:cNvGraphicFramePr>
            <a:graphicFrameLocks noGrp="1"/>
          </p:cNvGraphicFramePr>
          <p:nvPr>
            <p:ph idx="1"/>
            <p:extLst>
              <p:ext uri="{D42A27DB-BD31-4B8C-83A1-F6EECF244321}">
                <p14:modId xmlns:p14="http://schemas.microsoft.com/office/powerpoint/2010/main" val="632423901"/>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591469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9" name="Picture 8">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1" name="Rectangle 10">
            <a:extLst>
              <a:ext uri="{FF2B5EF4-FFF2-40B4-BE49-F238E27FC236}">
                <a16:creationId xmlns:a16="http://schemas.microsoft.com/office/drawing/2014/main" id="{26B0FCFA-8A2E-4F10-87BD-34565BD7C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32DA72A5-2775-4FE6-9A97-1C8DEE0E0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5" name="Picture 14">
            <a:extLst>
              <a:ext uri="{FF2B5EF4-FFF2-40B4-BE49-F238E27FC236}">
                <a16:creationId xmlns:a16="http://schemas.microsoft.com/office/drawing/2014/main" id="{28966E53-3C41-4F5A-A432-755BFE5D75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609600" y="533400"/>
            <a:ext cx="2438400" cy="2438400"/>
          </a:xfrm>
          <a:prstGeom prst="rect">
            <a:avLst/>
          </a:prstGeom>
        </p:spPr>
      </p:pic>
      <p:pic>
        <p:nvPicPr>
          <p:cNvPr id="17" name="Picture 16">
            <a:extLst>
              <a:ext uri="{FF2B5EF4-FFF2-40B4-BE49-F238E27FC236}">
                <a16:creationId xmlns:a16="http://schemas.microsoft.com/office/drawing/2014/main" id="{D47F75BB-A3CB-4161-B316-A2A9C88F72D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a:off x="10820400" y="3144779"/>
            <a:ext cx="1371600" cy="2548349"/>
          </a:xfrm>
          <a:prstGeom prst="rect">
            <a:avLst/>
          </a:prstGeom>
        </p:spPr>
      </p:pic>
      <p:sp>
        <p:nvSpPr>
          <p:cNvPr id="2" name="Title 1">
            <a:extLst>
              <a:ext uri="{FF2B5EF4-FFF2-40B4-BE49-F238E27FC236}">
                <a16:creationId xmlns:a16="http://schemas.microsoft.com/office/drawing/2014/main" id="{7262324C-4D79-59E3-9763-634ABECA1FA2}"/>
              </a:ext>
            </a:extLst>
          </p:cNvPr>
          <p:cNvSpPr>
            <a:spLocks noGrp="1"/>
          </p:cNvSpPr>
          <p:nvPr>
            <p:ph type="title"/>
          </p:nvPr>
        </p:nvSpPr>
        <p:spPr>
          <a:xfrm>
            <a:off x="3751118" y="1164872"/>
            <a:ext cx="7391400" cy="2593263"/>
          </a:xfrm>
        </p:spPr>
        <p:txBody>
          <a:bodyPr vert="horz" lIns="91440" tIns="45720" rIns="91440" bIns="45720" rtlCol="0" anchor="b">
            <a:normAutofit/>
          </a:bodyPr>
          <a:lstStyle/>
          <a:p>
            <a:r>
              <a:rPr lang="en-US" sz="5200" dirty="0">
                <a:solidFill>
                  <a:schemeClr val="tx2"/>
                </a:solidFill>
              </a:rPr>
              <a:t>Thank You</a:t>
            </a:r>
          </a:p>
        </p:txBody>
      </p:sp>
    </p:spTree>
    <p:extLst>
      <p:ext uri="{BB962C8B-B14F-4D97-AF65-F5344CB8AC3E}">
        <p14:creationId xmlns:p14="http://schemas.microsoft.com/office/powerpoint/2010/main" val="1836265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graph with red and blue dots&#10;&#10;AI-generated content may be incorrect.">
            <a:extLst>
              <a:ext uri="{FF2B5EF4-FFF2-40B4-BE49-F238E27FC236}">
                <a16:creationId xmlns:a16="http://schemas.microsoft.com/office/drawing/2014/main" id="{34A5538D-5E80-0280-A30B-ED0ACBD34409}"/>
              </a:ext>
            </a:extLst>
          </p:cNvPr>
          <p:cNvPicPr>
            <a:picLocks noGrp="1" noChangeAspect="1"/>
          </p:cNvPicPr>
          <p:nvPr>
            <p:ph idx="1"/>
          </p:nvPr>
        </p:nvPicPr>
        <p:blipFill>
          <a:blip r:embed="rId2"/>
          <a:stretch>
            <a:fillRect/>
          </a:stretch>
        </p:blipFill>
        <p:spPr>
          <a:xfrm>
            <a:off x="1869496" y="127513"/>
            <a:ext cx="8230467" cy="6602974"/>
          </a:xfrm>
        </p:spPr>
      </p:pic>
    </p:spTree>
    <p:extLst>
      <p:ext uri="{BB962C8B-B14F-4D97-AF65-F5344CB8AC3E}">
        <p14:creationId xmlns:p14="http://schemas.microsoft.com/office/powerpoint/2010/main" val="18556578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graph of a volcano plot&#10;&#10;AI-generated content may be incorrect.">
            <a:extLst>
              <a:ext uri="{FF2B5EF4-FFF2-40B4-BE49-F238E27FC236}">
                <a16:creationId xmlns:a16="http://schemas.microsoft.com/office/drawing/2014/main" id="{FD63D712-2B47-BF34-37E5-8EA444D4F659}"/>
              </a:ext>
            </a:extLst>
          </p:cNvPr>
          <p:cNvPicPr>
            <a:picLocks noGrp="1" noChangeAspect="1"/>
          </p:cNvPicPr>
          <p:nvPr>
            <p:ph idx="1"/>
          </p:nvPr>
        </p:nvPicPr>
        <p:blipFill>
          <a:blip r:embed="rId2"/>
          <a:stretch>
            <a:fillRect/>
          </a:stretch>
        </p:blipFill>
        <p:spPr>
          <a:xfrm>
            <a:off x="1692080" y="318654"/>
            <a:ext cx="8807839" cy="5844454"/>
          </a:xfrm>
        </p:spPr>
      </p:pic>
    </p:spTree>
    <p:extLst>
      <p:ext uri="{BB962C8B-B14F-4D97-AF65-F5344CB8AC3E}">
        <p14:creationId xmlns:p14="http://schemas.microsoft.com/office/powerpoint/2010/main" val="245979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screenshot of a graph&#10;&#10;AI-generated content may be incorrect.">
            <a:extLst>
              <a:ext uri="{FF2B5EF4-FFF2-40B4-BE49-F238E27FC236}">
                <a16:creationId xmlns:a16="http://schemas.microsoft.com/office/drawing/2014/main" id="{C04CC2E3-8FFA-2D81-0561-401A0FFBF697}"/>
              </a:ext>
            </a:extLst>
          </p:cNvPr>
          <p:cNvPicPr>
            <a:picLocks noGrp="1" noChangeAspect="1"/>
          </p:cNvPicPr>
          <p:nvPr>
            <p:ph idx="1"/>
          </p:nvPr>
        </p:nvPicPr>
        <p:blipFill>
          <a:blip r:embed="rId2"/>
          <a:stretch>
            <a:fillRect/>
          </a:stretch>
        </p:blipFill>
        <p:spPr>
          <a:xfrm>
            <a:off x="3643746" y="61154"/>
            <a:ext cx="4170218" cy="6700464"/>
          </a:xfrm>
        </p:spPr>
      </p:pic>
    </p:spTree>
    <p:extLst>
      <p:ext uri="{BB962C8B-B14F-4D97-AF65-F5344CB8AC3E}">
        <p14:creationId xmlns:p14="http://schemas.microsoft.com/office/powerpoint/2010/main" val="13085991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graph of lipid class&#10;&#10;AI-generated content may be incorrect.">
            <a:extLst>
              <a:ext uri="{FF2B5EF4-FFF2-40B4-BE49-F238E27FC236}">
                <a16:creationId xmlns:a16="http://schemas.microsoft.com/office/drawing/2014/main" id="{8754DA39-A577-17B5-1198-9EC916E715B2}"/>
              </a:ext>
            </a:extLst>
          </p:cNvPr>
          <p:cNvPicPr>
            <a:picLocks noGrp="1" noChangeAspect="1"/>
          </p:cNvPicPr>
          <p:nvPr>
            <p:ph idx="1"/>
          </p:nvPr>
        </p:nvPicPr>
        <p:blipFill>
          <a:blip r:embed="rId2"/>
          <a:stretch>
            <a:fillRect/>
          </a:stretch>
        </p:blipFill>
        <p:spPr>
          <a:xfrm>
            <a:off x="580099" y="429491"/>
            <a:ext cx="10503537" cy="6254916"/>
          </a:xfrm>
        </p:spPr>
      </p:pic>
    </p:spTree>
    <p:extLst>
      <p:ext uri="{BB962C8B-B14F-4D97-AF65-F5344CB8AC3E}">
        <p14:creationId xmlns:p14="http://schemas.microsoft.com/office/powerpoint/2010/main" val="1226529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graph of a number of bars&#10;&#10;AI-generated content may be incorrect.">
            <a:extLst>
              <a:ext uri="{FF2B5EF4-FFF2-40B4-BE49-F238E27FC236}">
                <a16:creationId xmlns:a16="http://schemas.microsoft.com/office/drawing/2014/main" id="{C263664E-05DA-A67B-AB97-1BFCB52C5BC8}"/>
              </a:ext>
            </a:extLst>
          </p:cNvPr>
          <p:cNvPicPr>
            <a:picLocks noGrp="1" noChangeAspect="1"/>
          </p:cNvPicPr>
          <p:nvPr>
            <p:ph idx="1"/>
          </p:nvPr>
        </p:nvPicPr>
        <p:blipFill>
          <a:blip r:embed="rId2"/>
          <a:stretch>
            <a:fillRect/>
          </a:stretch>
        </p:blipFill>
        <p:spPr>
          <a:xfrm>
            <a:off x="334773" y="568577"/>
            <a:ext cx="11522454" cy="5720845"/>
          </a:xfrm>
        </p:spPr>
      </p:pic>
    </p:spTree>
    <p:extLst>
      <p:ext uri="{BB962C8B-B14F-4D97-AF65-F5344CB8AC3E}">
        <p14:creationId xmlns:p14="http://schemas.microsoft.com/office/powerpoint/2010/main" val="1382486012"/>
      </p:ext>
    </p:extLst>
  </p:cSld>
  <p:clrMapOvr>
    <a:masterClrMapping/>
  </p:clrMapOvr>
</p:sld>
</file>

<file path=ppt/theme/theme1.xml><?xml version="1.0" encoding="utf-8"?>
<a:theme xmlns:a="http://schemas.openxmlformats.org/drawingml/2006/main" name="BlockprintVTI">
  <a:themeElements>
    <a:clrScheme name="Custom 69">
      <a:dk1>
        <a:sysClr val="windowText" lastClr="000000"/>
      </a:dk1>
      <a:lt1>
        <a:sysClr val="window" lastClr="FFFFFF"/>
      </a:lt1>
      <a:dk2>
        <a:srgbClr val="44131A"/>
      </a:dk2>
      <a:lt2>
        <a:srgbClr val="F2ECEA"/>
      </a:lt2>
      <a:accent1>
        <a:srgbClr val="A62C52"/>
      </a:accent1>
      <a:accent2>
        <a:srgbClr val="A7928D"/>
      </a:accent2>
      <a:accent3>
        <a:srgbClr val="307C71"/>
      </a:accent3>
      <a:accent4>
        <a:srgbClr val="41575D"/>
      </a:accent4>
      <a:accent5>
        <a:srgbClr val="8FA3A3"/>
      </a:accent5>
      <a:accent6>
        <a:srgbClr val="CA8370"/>
      </a:accent6>
      <a:hlink>
        <a:srgbClr val="D13D6E"/>
      </a:hlink>
      <a:folHlink>
        <a:srgbClr val="6C9D92"/>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VTI" id="{AA8C8908-6BA4-477C-AEA4-CB6C32A1FE3B}" vid="{36392749-7C1D-4938-93BB-440CD2A1B0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3075</TotalTime>
  <Words>2540</Words>
  <Application>Microsoft Macintosh PowerPoint</Application>
  <PresentationFormat>Widescreen</PresentationFormat>
  <Paragraphs>159</Paragraphs>
  <Slides>17</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Arial</vt:lpstr>
      <vt:lpstr>Avenir Next LT Pro</vt:lpstr>
      <vt:lpstr>AvenirNext LT Pro Medium</vt:lpstr>
      <vt:lpstr>Comic Sans MS</vt:lpstr>
      <vt:lpstr>Wingdings</vt:lpstr>
      <vt:lpstr>BlockprintVTI</vt:lpstr>
      <vt:lpstr>Multi-omics dissection of therapeutic resistance mechanisms in KRAS-mutant cancers to identify rational combination strategies</vt:lpstr>
      <vt:lpstr>KRAS WHY IT MATTERS?</vt:lpstr>
      <vt:lpstr>Resistance mechanisms</vt:lpstr>
      <vt:lpstr>The Multiomics Approach</vt:lpstr>
      <vt:lpstr>Transcriptomics Design</vt:lpstr>
      <vt:lpstr>Simulated Transcriptomics Results </vt:lpstr>
      <vt:lpstr>Phosphoproteomics &amp; Lipidomics</vt:lpstr>
      <vt:lpstr>Lipid Remodeling Creates Vulnerability</vt:lpstr>
      <vt:lpstr>Epigenomics—Chromatin Plasticity</vt:lpstr>
      <vt:lpstr>Expected Outcomes</vt:lpstr>
      <vt:lpstr>TIMELINE, BUDGET &amp; RESEARCH STRATEGY</vt:lpstr>
      <vt:lpstr>Thank You</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Koushik Muthuselvam</dc:creator>
  <cp:lastModifiedBy>Koushik Muthuselvam</cp:lastModifiedBy>
  <cp:revision>21</cp:revision>
  <dcterms:created xsi:type="dcterms:W3CDTF">2025-09-15T15:42:46Z</dcterms:created>
  <dcterms:modified xsi:type="dcterms:W3CDTF">2025-12-02T16:42:23Z</dcterms:modified>
</cp:coreProperties>
</file>